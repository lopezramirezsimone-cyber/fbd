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77" r:id="rId5"/>
    <p:sldId id="283" r:id="rId6"/>
    <p:sldId id="284" r:id="rId7"/>
    <p:sldId id="285" r:id="rId8"/>
    <p:sldId id="286" r:id="rId9"/>
    <p:sldId id="28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2962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564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05/06/2026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42609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3138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05/06/2026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2497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05/06/2026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73548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05/06/2026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336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8565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2687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673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41929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83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91692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05/06/2026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689080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05/06/2026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05129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625801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8955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05/06/2026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57354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90918" y="751864"/>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2052918" y="1605776"/>
            <a:ext cx="7440705" cy="364644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2.3 Banco de ejercicio</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07</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/05/2026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792943" y="1542339"/>
            <a:ext cx="8579222"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En este banco de ejercicios se trabajó con la creación y organización de una base de datos para una tienda utilizando </a:t>
            </a:r>
            <a:r>
              <a:rPr lang="es-MX" sz="1400" cap="none" dirty="0" err="1">
                <a:latin typeface="Arial" panose="020B0604020202020204" pitchFamily="34" charset="0"/>
                <a:cs typeface="Arial" panose="020B0604020202020204" pitchFamily="34" charset="0"/>
              </a:rPr>
              <a:t>postgresql</a:t>
            </a:r>
            <a:r>
              <a:rPr lang="es-MX" sz="1400" cap="none" dirty="0">
                <a:latin typeface="Arial" panose="020B0604020202020204" pitchFamily="34" charset="0"/>
                <a:cs typeface="Arial" panose="020B0604020202020204" pitchFamily="34" charset="0"/>
              </a:rPr>
              <a:t> y </a:t>
            </a:r>
            <a:r>
              <a:rPr lang="es-MX" sz="1400" cap="none" dirty="0" err="1">
                <a:latin typeface="Arial" panose="020B0604020202020204" pitchFamily="34" charset="0"/>
                <a:cs typeface="Arial" panose="020B0604020202020204" pitchFamily="34" charset="0"/>
              </a:rPr>
              <a:t>pgadmin</a:t>
            </a:r>
            <a:r>
              <a:rPr lang="es-MX" sz="1400" cap="none" dirty="0">
                <a:latin typeface="Arial" panose="020B0604020202020204" pitchFamily="34" charset="0"/>
                <a:cs typeface="Arial" panose="020B0604020202020204" pitchFamily="34" charset="0"/>
              </a:rPr>
              <a:t>. la actividad consistió en diseñar diferentes tablas para almacenar información importante, como los datos de los clientes, los productos disponibles y las ventas realizadas. también se establecieron relaciones entre las tablas mediante identificadores, lo que permite conectar la información de manera correcta. por ejemplo, la tabla ventas se relaciona con los clientes y con los productos para saber quién realizó una compra y qué artículo fue vendido.</a:t>
            </a:r>
            <a:endParaRPr lang="es-MX" sz="16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667435" y="1716946"/>
            <a:ext cx="8472273"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En un negocio es necesario llevar un control de los productos, clientes y ventas, ya que esto ayuda a evitar errores, duplicidad de datos y desorden en los registros. por medio de </a:t>
            </a:r>
            <a:r>
              <a:rPr lang="es-MX" sz="1400" cap="none" dirty="0" err="1">
                <a:latin typeface="Arial" panose="020B0604020202020204" pitchFamily="34" charset="0"/>
                <a:cs typeface="Arial" panose="020B0604020202020204" pitchFamily="34" charset="0"/>
              </a:rPr>
              <a:t>postgresql</a:t>
            </a:r>
            <a:r>
              <a:rPr lang="es-MX" sz="1400" cap="none" dirty="0">
                <a:latin typeface="Arial" panose="020B0604020202020204" pitchFamily="34" charset="0"/>
                <a:cs typeface="Arial" panose="020B0604020202020204" pitchFamily="34" charset="0"/>
              </a:rPr>
              <a:t> y </a:t>
            </a:r>
            <a:r>
              <a:rPr lang="es-MX" sz="1400" cap="none" dirty="0" err="1">
                <a:latin typeface="Arial" panose="020B0604020202020204" pitchFamily="34" charset="0"/>
                <a:cs typeface="Arial" panose="020B0604020202020204" pitchFamily="34" charset="0"/>
              </a:rPr>
              <a:t>pgadmin</a:t>
            </a:r>
            <a:r>
              <a:rPr lang="es-MX" sz="1400" cap="none" dirty="0">
                <a:latin typeface="Arial" panose="020B0604020202020204" pitchFamily="34" charset="0"/>
                <a:cs typeface="Arial" panose="020B0604020202020204" pitchFamily="34" charset="0"/>
              </a:rPr>
              <a:t> se pueden crear tablas con campos específicos, asignar identificadores únicos y relacionar la información entre sí. además, realizar consultas permite comprobar que los datos fueron guardados correctamente y que la base de datos funciona de acuerdo con la estructura diseñada. </a:t>
            </a:r>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26E5A37-6C3B-4EFD-BFAD-1D09AA8E8BB2}"/>
              </a:ext>
            </a:extLst>
          </p:cNvPr>
          <p:cNvPicPr>
            <a:picLocks noChangeAspect="1"/>
          </p:cNvPicPr>
          <p:nvPr/>
        </p:nvPicPr>
        <p:blipFill>
          <a:blip r:embed="rId2"/>
          <a:stretch>
            <a:fillRect/>
          </a:stretch>
        </p:blipFill>
        <p:spPr>
          <a:xfrm>
            <a:off x="267218" y="161363"/>
            <a:ext cx="5183323" cy="2618441"/>
          </a:xfrm>
          <a:prstGeom prst="rect">
            <a:avLst/>
          </a:prstGeom>
        </p:spPr>
      </p:pic>
      <p:pic>
        <p:nvPicPr>
          <p:cNvPr id="11" name="Imagen 10">
            <a:extLst>
              <a:ext uri="{FF2B5EF4-FFF2-40B4-BE49-F238E27FC236}">
                <a16:creationId xmlns:a16="http://schemas.microsoft.com/office/drawing/2014/main" id="{1A243E36-E890-4909-8C51-7489CA643F31}"/>
              </a:ext>
            </a:extLst>
          </p:cNvPr>
          <p:cNvPicPr>
            <a:picLocks noChangeAspect="1"/>
          </p:cNvPicPr>
          <p:nvPr/>
        </p:nvPicPr>
        <p:blipFill>
          <a:blip r:embed="rId3"/>
          <a:stretch>
            <a:fillRect/>
          </a:stretch>
        </p:blipFill>
        <p:spPr>
          <a:xfrm>
            <a:off x="5858219" y="161364"/>
            <a:ext cx="5957263" cy="2716308"/>
          </a:xfrm>
          <a:prstGeom prst="rect">
            <a:avLst/>
          </a:prstGeom>
        </p:spPr>
      </p:pic>
      <p:pic>
        <p:nvPicPr>
          <p:cNvPr id="13" name="Imagen 12">
            <a:extLst>
              <a:ext uri="{FF2B5EF4-FFF2-40B4-BE49-F238E27FC236}">
                <a16:creationId xmlns:a16="http://schemas.microsoft.com/office/drawing/2014/main" id="{DD80ED87-EBEC-4B41-9646-36234B114EEE}"/>
              </a:ext>
            </a:extLst>
          </p:cNvPr>
          <p:cNvPicPr>
            <a:picLocks noChangeAspect="1"/>
          </p:cNvPicPr>
          <p:nvPr/>
        </p:nvPicPr>
        <p:blipFill>
          <a:blip r:embed="rId4"/>
          <a:stretch>
            <a:fillRect/>
          </a:stretch>
        </p:blipFill>
        <p:spPr>
          <a:xfrm>
            <a:off x="513460" y="3345027"/>
            <a:ext cx="2345419" cy="2490997"/>
          </a:xfrm>
          <a:prstGeom prst="rect">
            <a:avLst/>
          </a:prstGeom>
        </p:spPr>
      </p:pic>
      <p:sp>
        <p:nvSpPr>
          <p:cNvPr id="14" name="CuadroTexto 13">
            <a:extLst>
              <a:ext uri="{FF2B5EF4-FFF2-40B4-BE49-F238E27FC236}">
                <a16:creationId xmlns:a16="http://schemas.microsoft.com/office/drawing/2014/main" id="{C42A6BAA-A50B-489E-9600-6C7A17360FF0}"/>
              </a:ext>
            </a:extLst>
          </p:cNvPr>
          <p:cNvSpPr txBox="1"/>
          <p:nvPr/>
        </p:nvSpPr>
        <p:spPr>
          <a:xfrm>
            <a:off x="3451412" y="3682584"/>
            <a:ext cx="6544235" cy="1815882"/>
          </a:xfrm>
          <a:prstGeom prst="rect">
            <a:avLst/>
          </a:prstGeom>
          <a:noFill/>
        </p:spPr>
        <p:txBody>
          <a:bodyPr wrap="square" rtlCol="0">
            <a:spAutoFit/>
          </a:bodyPr>
          <a:lstStyle/>
          <a:p>
            <a:pPr algn="just"/>
            <a:r>
              <a:rPr lang="es-MX" sz="1600" b="1" dirty="0">
                <a:latin typeface="Arial" panose="020B0604020202020204" pitchFamily="34" charset="0"/>
                <a:cs typeface="Arial" panose="020B0604020202020204" pitchFamily="34" charset="0"/>
              </a:rPr>
              <a:t>Productos</a:t>
            </a:r>
            <a:r>
              <a:rPr lang="es-MX" sz="1600" dirty="0">
                <a:latin typeface="Arial" panose="020B0604020202020204" pitchFamily="34" charset="0"/>
                <a:cs typeface="Arial" panose="020B0604020202020204" pitchFamily="34" charset="0"/>
              </a:rPr>
              <a:t> contiene la información de los artículos disponibles para la venta dentro de la tienda. Cada producto cuenta con un identificador único, el cual permite reconocerlo y relacionarlo con las ventas registradas. Además, en esta tabla se almacenan datos como el código, la descripción, el precio de compra y la cantidad disponible en stock, lo que ayuda a llevar un mejor control del inventario y de los productos que se venden.</a:t>
            </a:r>
          </a:p>
        </p:txBody>
      </p:sp>
    </p:spTree>
    <p:extLst>
      <p:ext uri="{BB962C8B-B14F-4D97-AF65-F5344CB8AC3E}">
        <p14:creationId xmlns:p14="http://schemas.microsoft.com/office/powerpoint/2010/main" val="317503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2C30A47-67D1-4248-8EC1-DDC83343CDDC}"/>
              </a:ext>
            </a:extLst>
          </p:cNvPr>
          <p:cNvSpPr>
            <a:spLocks noGrp="1"/>
          </p:cNvSpPr>
          <p:nvPr>
            <p:ph sz="quarter" idx="13"/>
          </p:nvPr>
        </p:nvSpPr>
        <p:spPr>
          <a:xfrm>
            <a:off x="1087090" y="3676641"/>
            <a:ext cx="9592235" cy="1326777"/>
          </a:xfrm>
        </p:spPr>
        <p:txBody>
          <a:bodyPr>
            <a:noAutofit/>
          </a:bodyPr>
          <a:lstStyle/>
          <a:p>
            <a:pPr marL="0" indent="0" algn="just">
              <a:buNone/>
            </a:pPr>
            <a:r>
              <a:rPr lang="es-MX" sz="1600" b="1" cap="none" dirty="0">
                <a:latin typeface="Arial" panose="020B0604020202020204" pitchFamily="34" charset="0"/>
                <a:cs typeface="Arial" panose="020B0604020202020204" pitchFamily="34" charset="0"/>
              </a:rPr>
              <a:t>Ventas</a:t>
            </a:r>
            <a:r>
              <a:rPr lang="es-MX" sz="1600" cap="none" dirty="0">
                <a:latin typeface="Arial" panose="020B0604020202020204" pitchFamily="34" charset="0"/>
                <a:cs typeface="Arial" panose="020B0604020202020204" pitchFamily="34" charset="0"/>
              </a:rPr>
              <a:t> registra las transacciones realizadas dentro de la tienda. en esta tabla se guarda la información relacionada con el cliente que realizó la compra, el producto vendido, la cantidad adquirida y la fecha de la venta. además, funciona como una tabla de conexión, ya que permite relacionar los productos disponibles con las operaciones de venta registradas en el sistema.</a:t>
            </a:r>
          </a:p>
        </p:txBody>
      </p:sp>
      <p:pic>
        <p:nvPicPr>
          <p:cNvPr id="5" name="Imagen 4">
            <a:extLst>
              <a:ext uri="{FF2B5EF4-FFF2-40B4-BE49-F238E27FC236}">
                <a16:creationId xmlns:a16="http://schemas.microsoft.com/office/drawing/2014/main" id="{D578708F-B22D-4CC8-AE48-4240C661B89D}"/>
              </a:ext>
            </a:extLst>
          </p:cNvPr>
          <p:cNvPicPr>
            <a:picLocks noChangeAspect="1"/>
          </p:cNvPicPr>
          <p:nvPr/>
        </p:nvPicPr>
        <p:blipFill>
          <a:blip r:embed="rId2"/>
          <a:stretch>
            <a:fillRect/>
          </a:stretch>
        </p:blipFill>
        <p:spPr>
          <a:xfrm>
            <a:off x="1087090" y="81901"/>
            <a:ext cx="2606369" cy="3140798"/>
          </a:xfrm>
          <a:prstGeom prst="rect">
            <a:avLst/>
          </a:prstGeom>
        </p:spPr>
      </p:pic>
      <p:pic>
        <p:nvPicPr>
          <p:cNvPr id="7" name="Imagen 6">
            <a:extLst>
              <a:ext uri="{FF2B5EF4-FFF2-40B4-BE49-F238E27FC236}">
                <a16:creationId xmlns:a16="http://schemas.microsoft.com/office/drawing/2014/main" id="{AD3FCAFC-200C-4622-85A7-3B1FB4FB6335}"/>
              </a:ext>
            </a:extLst>
          </p:cNvPr>
          <p:cNvPicPr>
            <a:picLocks noChangeAspect="1"/>
          </p:cNvPicPr>
          <p:nvPr/>
        </p:nvPicPr>
        <p:blipFill>
          <a:blip r:embed="rId3"/>
          <a:stretch>
            <a:fillRect/>
          </a:stretch>
        </p:blipFill>
        <p:spPr>
          <a:xfrm>
            <a:off x="4125904" y="206188"/>
            <a:ext cx="3557058" cy="2581836"/>
          </a:xfrm>
          <a:prstGeom prst="rect">
            <a:avLst/>
          </a:prstGeom>
        </p:spPr>
      </p:pic>
      <p:pic>
        <p:nvPicPr>
          <p:cNvPr id="9" name="Imagen 8">
            <a:extLst>
              <a:ext uri="{FF2B5EF4-FFF2-40B4-BE49-F238E27FC236}">
                <a16:creationId xmlns:a16="http://schemas.microsoft.com/office/drawing/2014/main" id="{ED3418F3-8109-4A6B-8AB7-FCDFF1ABA8C4}"/>
              </a:ext>
            </a:extLst>
          </p:cNvPr>
          <p:cNvPicPr>
            <a:picLocks noChangeAspect="1"/>
          </p:cNvPicPr>
          <p:nvPr/>
        </p:nvPicPr>
        <p:blipFill>
          <a:blip r:embed="rId4"/>
          <a:stretch>
            <a:fillRect/>
          </a:stretch>
        </p:blipFill>
        <p:spPr>
          <a:xfrm>
            <a:off x="8115407" y="763112"/>
            <a:ext cx="3911196" cy="2418248"/>
          </a:xfrm>
          <a:prstGeom prst="rect">
            <a:avLst/>
          </a:prstGeom>
        </p:spPr>
      </p:pic>
    </p:spTree>
    <p:extLst>
      <p:ext uri="{BB962C8B-B14F-4D97-AF65-F5344CB8AC3E}">
        <p14:creationId xmlns:p14="http://schemas.microsoft.com/office/powerpoint/2010/main" val="593996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B0078B7-47FE-432E-8BCD-FD863FE7EF80}"/>
              </a:ext>
            </a:extLst>
          </p:cNvPr>
          <p:cNvPicPr>
            <a:picLocks noChangeAspect="1"/>
          </p:cNvPicPr>
          <p:nvPr/>
        </p:nvPicPr>
        <p:blipFill>
          <a:blip r:embed="rId2"/>
          <a:stretch>
            <a:fillRect/>
          </a:stretch>
        </p:blipFill>
        <p:spPr>
          <a:xfrm>
            <a:off x="664181" y="113596"/>
            <a:ext cx="3337238" cy="2602710"/>
          </a:xfrm>
          <a:prstGeom prst="rect">
            <a:avLst/>
          </a:prstGeom>
        </p:spPr>
      </p:pic>
      <p:pic>
        <p:nvPicPr>
          <p:cNvPr id="7" name="Imagen 6">
            <a:extLst>
              <a:ext uri="{FF2B5EF4-FFF2-40B4-BE49-F238E27FC236}">
                <a16:creationId xmlns:a16="http://schemas.microsoft.com/office/drawing/2014/main" id="{E7C380D6-A818-4F8C-B2D7-1A06518A0024}"/>
              </a:ext>
            </a:extLst>
          </p:cNvPr>
          <p:cNvPicPr>
            <a:picLocks noChangeAspect="1"/>
          </p:cNvPicPr>
          <p:nvPr/>
        </p:nvPicPr>
        <p:blipFill>
          <a:blip r:embed="rId3"/>
          <a:stretch>
            <a:fillRect/>
          </a:stretch>
        </p:blipFill>
        <p:spPr>
          <a:xfrm>
            <a:off x="4383742" y="113596"/>
            <a:ext cx="4500456" cy="2710714"/>
          </a:xfrm>
          <a:prstGeom prst="rect">
            <a:avLst/>
          </a:prstGeom>
        </p:spPr>
      </p:pic>
      <p:pic>
        <p:nvPicPr>
          <p:cNvPr id="9" name="Imagen 8">
            <a:extLst>
              <a:ext uri="{FF2B5EF4-FFF2-40B4-BE49-F238E27FC236}">
                <a16:creationId xmlns:a16="http://schemas.microsoft.com/office/drawing/2014/main" id="{50B1E2FE-7A38-4334-8833-DFA6A90D0661}"/>
              </a:ext>
            </a:extLst>
          </p:cNvPr>
          <p:cNvPicPr>
            <a:picLocks noChangeAspect="1"/>
          </p:cNvPicPr>
          <p:nvPr/>
        </p:nvPicPr>
        <p:blipFill>
          <a:blip r:embed="rId4"/>
          <a:stretch>
            <a:fillRect/>
          </a:stretch>
        </p:blipFill>
        <p:spPr>
          <a:xfrm>
            <a:off x="488437" y="3126613"/>
            <a:ext cx="3200677" cy="1196444"/>
          </a:xfrm>
          <a:prstGeom prst="rect">
            <a:avLst/>
          </a:prstGeom>
        </p:spPr>
      </p:pic>
      <p:sp>
        <p:nvSpPr>
          <p:cNvPr id="10" name="CuadroTexto 9">
            <a:extLst>
              <a:ext uri="{FF2B5EF4-FFF2-40B4-BE49-F238E27FC236}">
                <a16:creationId xmlns:a16="http://schemas.microsoft.com/office/drawing/2014/main" id="{D0B0CD46-511F-4E97-829F-FEA1267C7461}"/>
              </a:ext>
            </a:extLst>
          </p:cNvPr>
          <p:cNvSpPr txBox="1"/>
          <p:nvPr/>
        </p:nvSpPr>
        <p:spPr>
          <a:xfrm>
            <a:off x="4213412" y="3218329"/>
            <a:ext cx="7333129" cy="1077218"/>
          </a:xfrm>
          <a:prstGeom prst="rect">
            <a:avLst/>
          </a:prstGeom>
          <a:noFill/>
        </p:spPr>
        <p:txBody>
          <a:bodyPr wrap="square" rtlCol="0">
            <a:spAutoFit/>
          </a:bodyPr>
          <a:lstStyle/>
          <a:p>
            <a:pPr algn="just"/>
            <a:r>
              <a:rPr lang="es-MX" sz="1600" b="1" dirty="0">
                <a:latin typeface="Arial" panose="020B0604020202020204" pitchFamily="34" charset="0"/>
                <a:cs typeface="Arial" panose="020B0604020202020204" pitchFamily="34" charset="0"/>
              </a:rPr>
              <a:t>Proveedores</a:t>
            </a:r>
            <a:r>
              <a:rPr lang="es-MX" sz="1600" dirty="0">
                <a:latin typeface="Arial" panose="020B0604020202020204" pitchFamily="34" charset="0"/>
                <a:cs typeface="Arial" panose="020B0604020202020204" pitchFamily="34" charset="0"/>
              </a:rPr>
              <a:t> almacena la información de las personas o empresas que se encargan de surtir los productos de la tienda. Cada proveedor cuenta con un identificador único, el cual permite reconocerlo y relacionarlo con los artículos que entrega al negocio.</a:t>
            </a:r>
          </a:p>
        </p:txBody>
      </p:sp>
    </p:spTree>
    <p:extLst>
      <p:ext uri="{BB962C8B-B14F-4D97-AF65-F5344CB8AC3E}">
        <p14:creationId xmlns:p14="http://schemas.microsoft.com/office/powerpoint/2010/main" val="70013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B246EF9-A539-4541-B64E-4AF9A6D9E241}"/>
              </a:ext>
            </a:extLst>
          </p:cNvPr>
          <p:cNvSpPr>
            <a:spLocks noGrp="1"/>
          </p:cNvSpPr>
          <p:nvPr>
            <p:ph sz="quarter" idx="13"/>
          </p:nvPr>
        </p:nvSpPr>
        <p:spPr>
          <a:xfrm>
            <a:off x="931704" y="3792071"/>
            <a:ext cx="6993097" cy="1649505"/>
          </a:xfrm>
        </p:spPr>
        <p:txBody>
          <a:bodyPr>
            <a:normAutofit/>
          </a:bodyPr>
          <a:lstStyle/>
          <a:p>
            <a:pPr marL="0" indent="0" algn="just">
              <a:buNone/>
            </a:pPr>
            <a:r>
              <a:rPr lang="es-MX" sz="1400" b="1" cap="none" dirty="0">
                <a:latin typeface="Arial" panose="020B0604020202020204" pitchFamily="34" charset="0"/>
                <a:cs typeface="Arial" panose="020B0604020202020204" pitchFamily="34" charset="0"/>
              </a:rPr>
              <a:t>Clientes</a:t>
            </a:r>
            <a:r>
              <a:rPr lang="es-MX" sz="1400" cap="none" dirty="0">
                <a:latin typeface="Arial" panose="020B0604020202020204" pitchFamily="34" charset="0"/>
                <a:cs typeface="Arial" panose="020B0604020202020204" pitchFamily="34" charset="0"/>
              </a:rPr>
              <a:t> almacena la información de las personas que realizan compras dentro de la tienda. cada cliente cuenta con un identificador único, el cual permite reconocerlo y relacionarlo con las ventas registradas. además, en esta tabla se pueden guardar datos como el nombre, teléfono, correo y dirección, lo que ayuda a llevar un mejor control de los compradores y de las operaciones realizadas en el sistema.</a:t>
            </a:r>
          </a:p>
        </p:txBody>
      </p:sp>
      <p:pic>
        <p:nvPicPr>
          <p:cNvPr id="5" name="Imagen 4">
            <a:extLst>
              <a:ext uri="{FF2B5EF4-FFF2-40B4-BE49-F238E27FC236}">
                <a16:creationId xmlns:a16="http://schemas.microsoft.com/office/drawing/2014/main" id="{B5090203-E4C4-4D26-BB89-C8406FF2482D}"/>
              </a:ext>
            </a:extLst>
          </p:cNvPr>
          <p:cNvPicPr>
            <a:picLocks noChangeAspect="1"/>
          </p:cNvPicPr>
          <p:nvPr/>
        </p:nvPicPr>
        <p:blipFill>
          <a:blip r:embed="rId2"/>
          <a:stretch>
            <a:fillRect/>
          </a:stretch>
        </p:blipFill>
        <p:spPr>
          <a:xfrm>
            <a:off x="528292" y="52988"/>
            <a:ext cx="4190622" cy="2761930"/>
          </a:xfrm>
          <a:prstGeom prst="rect">
            <a:avLst/>
          </a:prstGeom>
        </p:spPr>
      </p:pic>
      <p:pic>
        <p:nvPicPr>
          <p:cNvPr id="7" name="Imagen 6">
            <a:extLst>
              <a:ext uri="{FF2B5EF4-FFF2-40B4-BE49-F238E27FC236}">
                <a16:creationId xmlns:a16="http://schemas.microsoft.com/office/drawing/2014/main" id="{537CEAB0-518C-4AF1-8E75-764254914BA7}"/>
              </a:ext>
            </a:extLst>
          </p:cNvPr>
          <p:cNvPicPr>
            <a:picLocks noChangeAspect="1"/>
          </p:cNvPicPr>
          <p:nvPr/>
        </p:nvPicPr>
        <p:blipFill>
          <a:blip r:embed="rId3"/>
          <a:stretch>
            <a:fillRect/>
          </a:stretch>
        </p:blipFill>
        <p:spPr>
          <a:xfrm>
            <a:off x="5669173" y="168649"/>
            <a:ext cx="4197234" cy="2897281"/>
          </a:xfrm>
          <a:prstGeom prst="rect">
            <a:avLst/>
          </a:prstGeom>
        </p:spPr>
      </p:pic>
      <p:pic>
        <p:nvPicPr>
          <p:cNvPr id="9" name="Imagen 8">
            <a:extLst>
              <a:ext uri="{FF2B5EF4-FFF2-40B4-BE49-F238E27FC236}">
                <a16:creationId xmlns:a16="http://schemas.microsoft.com/office/drawing/2014/main" id="{9CAC2CD3-1D99-4095-91CB-7E1D0CF169F5}"/>
              </a:ext>
            </a:extLst>
          </p:cNvPr>
          <p:cNvPicPr>
            <a:picLocks noChangeAspect="1"/>
          </p:cNvPicPr>
          <p:nvPr/>
        </p:nvPicPr>
        <p:blipFill>
          <a:blip r:embed="rId4"/>
          <a:stretch>
            <a:fillRect/>
          </a:stretch>
        </p:blipFill>
        <p:spPr>
          <a:xfrm>
            <a:off x="10095158" y="1058812"/>
            <a:ext cx="2034716" cy="3314987"/>
          </a:xfrm>
          <a:prstGeom prst="rect">
            <a:avLst/>
          </a:prstGeom>
        </p:spPr>
      </p:pic>
    </p:spTree>
    <p:extLst>
      <p:ext uri="{BB962C8B-B14F-4D97-AF65-F5344CB8AC3E}">
        <p14:creationId xmlns:p14="http://schemas.microsoft.com/office/powerpoint/2010/main" val="3905930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63C5296-0965-403E-9FF5-0F9C2F7968A1}"/>
              </a:ext>
            </a:extLst>
          </p:cNvPr>
          <p:cNvPicPr>
            <a:picLocks noChangeAspect="1"/>
          </p:cNvPicPr>
          <p:nvPr/>
        </p:nvPicPr>
        <p:blipFill>
          <a:blip r:embed="rId2"/>
          <a:stretch>
            <a:fillRect/>
          </a:stretch>
        </p:blipFill>
        <p:spPr>
          <a:xfrm>
            <a:off x="2859741" y="161365"/>
            <a:ext cx="6140824" cy="4661569"/>
          </a:xfrm>
          <a:prstGeom prst="rect">
            <a:avLst/>
          </a:prstGeom>
        </p:spPr>
      </p:pic>
      <p:sp>
        <p:nvSpPr>
          <p:cNvPr id="6" name="CuadroTexto 5">
            <a:extLst>
              <a:ext uri="{FF2B5EF4-FFF2-40B4-BE49-F238E27FC236}">
                <a16:creationId xmlns:a16="http://schemas.microsoft.com/office/drawing/2014/main" id="{8A014B97-C4BC-4567-B864-52393E2B2A53}"/>
              </a:ext>
            </a:extLst>
          </p:cNvPr>
          <p:cNvSpPr txBox="1"/>
          <p:nvPr/>
        </p:nvSpPr>
        <p:spPr>
          <a:xfrm>
            <a:off x="2120153" y="4984299"/>
            <a:ext cx="7620000" cy="1169551"/>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Están relacionadas las tablas de la base de datos de una tienda. La tabla clientes guarda la información de las personas que compran, la tabla Producto almacena los artículos disponibles y la tabla ventas registra las compras realizadas. La tabla ventas se conecta con clientes y Producto por medio de sus identificadores, para saber qué cliente compró, qué producto se vendió y los datos de esa venta.</a:t>
            </a:r>
          </a:p>
        </p:txBody>
      </p:sp>
    </p:spTree>
    <p:extLst>
      <p:ext uri="{BB962C8B-B14F-4D97-AF65-F5344CB8AC3E}">
        <p14:creationId xmlns:p14="http://schemas.microsoft.com/office/powerpoint/2010/main" val="4141184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1ABB7-1CE2-4A9B-870E-51831C8B46CD}"/>
              </a:ext>
            </a:extLst>
          </p:cNvPr>
          <p:cNvSpPr>
            <a:spLocks noGrp="1"/>
          </p:cNvSpPr>
          <p:nvPr>
            <p:ph type="title"/>
          </p:nvPr>
        </p:nvSpPr>
        <p:spPr/>
        <p:txBody>
          <a:bodyPr/>
          <a:lstStyle/>
          <a:p>
            <a:r>
              <a:rPr lang="es-MX" b="1" dirty="0"/>
              <a:t>CONCLUSION </a:t>
            </a:r>
          </a:p>
        </p:txBody>
      </p:sp>
      <p:sp>
        <p:nvSpPr>
          <p:cNvPr id="3" name="Marcador de contenido 2">
            <a:extLst>
              <a:ext uri="{FF2B5EF4-FFF2-40B4-BE49-F238E27FC236}">
                <a16:creationId xmlns:a16="http://schemas.microsoft.com/office/drawing/2014/main" id="{C8CA1477-16CE-4489-9986-F62D85A341E9}"/>
              </a:ext>
            </a:extLst>
          </p:cNvPr>
          <p:cNvSpPr>
            <a:spLocks noGrp="1"/>
          </p:cNvSpPr>
          <p:nvPr>
            <p:ph sz="quarter" idx="13"/>
          </p:nvPr>
        </p:nvSpPr>
        <p:spPr>
          <a:xfrm>
            <a:off x="2814604" y="1954716"/>
            <a:ext cx="6562791"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Se logró diseñar una base de datos básica para una tienda, en donde se organizaron los datos de clientes, productos y ventas. también se pudo observar cómo las tablas se conectan entre sí por medio de identificadores, lo que facilita saber qué cliente realizó una compra y qué producto fue vendido. además, al ejecutar consultas en </a:t>
            </a:r>
            <a:r>
              <a:rPr lang="es-MX" sz="1400" cap="none" dirty="0" err="1">
                <a:latin typeface="Arial" panose="020B0604020202020204" pitchFamily="34" charset="0"/>
                <a:cs typeface="Arial" panose="020B0604020202020204" pitchFamily="34" charset="0"/>
              </a:rPr>
              <a:t>pgadmin</a:t>
            </a:r>
            <a:r>
              <a:rPr lang="es-MX" sz="1400" cap="none" dirty="0">
                <a:latin typeface="Arial" panose="020B0604020202020204" pitchFamily="34" charset="0"/>
                <a:cs typeface="Arial" panose="020B0604020202020204" pitchFamily="34" charset="0"/>
              </a:rPr>
              <a:t>, se comprobó que la información se almacenó correctamente</a:t>
            </a:r>
          </a:p>
        </p:txBody>
      </p:sp>
    </p:spTree>
    <p:extLst>
      <p:ext uri="{BB962C8B-B14F-4D97-AF65-F5344CB8AC3E}">
        <p14:creationId xmlns:p14="http://schemas.microsoft.com/office/powerpoint/2010/main" val="1680900253"/>
      </p:ext>
    </p:extLst>
  </p:cSld>
  <p:clrMapOvr>
    <a:masterClrMapping/>
  </p:clrMapOvr>
</p:sld>
</file>

<file path=ppt/theme/theme1.xml><?xml version="1.0" encoding="utf-8"?>
<a:theme xmlns:a="http://schemas.openxmlformats.org/drawingml/2006/main" name="Gota">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ólidos sutile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412</TotalTime>
  <Words>660</Words>
  <Application>Microsoft Office PowerPoint</Application>
  <PresentationFormat>Panorámica</PresentationFormat>
  <Paragraphs>21</Paragraphs>
  <Slides>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Tw Cen MT</vt:lpstr>
      <vt:lpstr>Gota</vt:lpstr>
      <vt:lpstr>Presentación de PowerPoint</vt:lpstr>
      <vt:lpstr>INTRODUCCION </vt:lpstr>
      <vt:lpstr>JUSTIFICACION</vt:lpstr>
      <vt:lpstr>Presentación de PowerPoint</vt:lpstr>
      <vt:lpstr>Presentación de PowerPoint</vt:lpstr>
      <vt:lpstr>Presentación de PowerPoint</vt:lpstr>
      <vt:lpstr>Presentación de PowerPoint</vt:lpstr>
      <vt:lpstr>Presentación de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31</cp:revision>
  <dcterms:created xsi:type="dcterms:W3CDTF">2026-05-05T12:16:48Z</dcterms:created>
  <dcterms:modified xsi:type="dcterms:W3CDTF">2026-06-05T11:54:52Z</dcterms:modified>
</cp:coreProperties>
</file>