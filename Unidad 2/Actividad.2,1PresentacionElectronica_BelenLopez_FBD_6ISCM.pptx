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72" r:id="rId7"/>
    <p:sldId id="273" r:id="rId8"/>
    <p:sldId id="274" r:id="rId9"/>
    <p:sldId id="275" r:id="rId10"/>
    <p:sldId id="271" r:id="rId11"/>
    <p:sldId id="27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02/06/2026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02/06/2026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02/06/2026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02/06/2026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02/06/2026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02/06/2026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02/06/2026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02/06/2026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lifeder.com/modelo-entidad-relacion/" TargetMode="External"/><Relationship Id="rId2" Type="http://schemas.openxmlformats.org/officeDocument/2006/relationships/hyperlink" Target="https://www.marcoteorico.com/curso/31/fundamentos-de-bases-de-datos/421/la-notacion-e-r-con-u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64644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a:t>
            </a:r>
            <a:r>
              <a:rPr lang="es-MX" sz="1400" b="1" dirty="0" err="1">
                <a:solidFill>
                  <a:srgbClr val="000000"/>
                </a:solidFill>
                <a:effectLst/>
                <a:latin typeface="Arial" panose="020B0604020202020204" pitchFamily="34" charset="0"/>
                <a:ea typeface="Arial" panose="020B0604020202020204" pitchFamily="34" charset="0"/>
                <a:cs typeface="Arial" panose="020B0604020202020204" pitchFamily="34" charset="0"/>
              </a:rPr>
              <a:t>trabajo:</a:t>
            </a:r>
            <a:r>
              <a:rPr lang="es-MX" sz="1400" dirty="0" err="1">
                <a:solidFill>
                  <a:srgbClr val="000000"/>
                </a:solidFill>
                <a:effectLst/>
                <a:latin typeface="Arial" panose="020B0604020202020204" pitchFamily="34" charset="0"/>
                <a:ea typeface="Arial" panose="020B0604020202020204" pitchFamily="34" charset="0"/>
                <a:cs typeface="Arial" panose="020B0604020202020204" pitchFamily="34" charset="0"/>
              </a:rPr>
              <a:t>Presentacion</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electrónica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2.1 </a:t>
            </a:r>
            <a:endPar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27/04/2026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497107" y="1542339"/>
            <a:ext cx="886609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El diseño de bases de datos es una parte muy importante en el desarrollo de sistemas, ya que permite organizar correctamente la información antes de crearla en un gestor de base de datos. para lograr esto, se utilizan modelos que ayudan a representar los datos de una forma clara y entendible. uno de los modelos más utilizados es el modelo entidad-relación, también conocido como modelo e-r.Este modelo permite identificar las entidades principales de un sistema, sus atributos y las relaciones que existen entre ellas. gracias a esto, se puede crear una estructura ordenada que después se transforma en tablas dentro de una base de datos. en esta exposición se explicará el proceso de diseño, el modelo e-r, los diagramas e-r, el modelo e-r extendido y su relación con la notación </a:t>
            </a:r>
            <a:r>
              <a:rPr lang="es-MX" sz="1400" cap="none" dirty="0" err="1">
                <a:latin typeface="Arial" panose="020B0604020202020204" pitchFamily="34" charset="0"/>
                <a:cs typeface="Arial" panose="020B0604020202020204" pitchFamily="34" charset="0"/>
              </a:rPr>
              <a:t>uml</a:t>
            </a:r>
            <a:endParaRPr lang="es-MX" sz="1400" cap="none" dirty="0">
              <a:latin typeface="Arial" panose="020B0604020202020204" pitchFamily="34" charset="0"/>
              <a:cs typeface="Arial" panose="020B0604020202020204" pitchFamily="34" charset="0"/>
            </a:endParaRPr>
          </a:p>
          <a:p>
            <a:pPr marL="0" indent="0">
              <a:buNone/>
            </a:pPr>
            <a:endParaRPr lang="es-MX" dirty="0"/>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129553" y="1497515"/>
            <a:ext cx="993289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Es importante porque permite evitar errores al momento de almacenar información. si una base de datos no se diseña correctamente desde el inicio, pueden presentarse problemas como datos repetidos, pérdida de información, dificultad para hacer consultas o problemas al modificar registros.</a:t>
            </a:r>
          </a:p>
          <a:p>
            <a:pPr marL="0" indent="0" algn="just">
              <a:buNone/>
            </a:pPr>
            <a:r>
              <a:rPr lang="es-MX" sz="1400" cap="none" dirty="0">
                <a:latin typeface="Arial" panose="020B0604020202020204" pitchFamily="34" charset="0"/>
                <a:cs typeface="Arial" panose="020B0604020202020204" pitchFamily="34" charset="0"/>
              </a:rPr>
              <a:t>por eso, el modelo entidad-relación es una herramienta útil, ya que permite planear la estructura de la base de datos antes de implementarla. además, ayuda a entender mejor cómo funciona un sistema y cómo se relacionan sus datos. esta actividad es importante porque permite desarrollar habilidades para analizar información y representarla de forma ordenada mediante diagramas.</a:t>
            </a:r>
          </a:p>
          <a:p>
            <a:pPr marL="0" indent="0">
              <a:buNone/>
            </a:pPr>
            <a:endParaRPr lang="es-MX" sz="1400" dirty="0"/>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A4E705F-8879-4CEE-8452-F02F7ED6FF1D}"/>
              </a:ext>
            </a:extLst>
          </p:cNvPr>
          <p:cNvSpPr/>
          <p:nvPr/>
        </p:nvSpPr>
        <p:spPr>
          <a:xfrm>
            <a:off x="1863294" y="645477"/>
            <a:ext cx="8975035" cy="461665"/>
          </a:xfrm>
          <a:prstGeom prst="rect">
            <a:avLst/>
          </a:prstGeom>
          <a:noFill/>
        </p:spPr>
        <p:txBody>
          <a:bodyPr wrap="square" lIns="91440" tIns="45720" rIns="91440" bIns="45720">
            <a:spAutoFit/>
          </a:bodyPr>
          <a:lstStyle/>
          <a:p>
            <a:pPr algn="ctr"/>
            <a:r>
              <a:rPr lang="es-MX" sz="2400" dirty="0">
                <a:latin typeface="Arial Black" panose="020B0A04020102020204" pitchFamily="34" charset="0"/>
              </a:rPr>
              <a:t>DISEÑO DE BASES DE DATOS CON EL MODELO E-R</a:t>
            </a:r>
            <a:endParaRPr lang="es-E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endParaRPr>
          </a:p>
        </p:txBody>
      </p:sp>
      <p:sp>
        <p:nvSpPr>
          <p:cNvPr id="6" name="CuadroTexto 5">
            <a:extLst>
              <a:ext uri="{FF2B5EF4-FFF2-40B4-BE49-F238E27FC236}">
                <a16:creationId xmlns:a16="http://schemas.microsoft.com/office/drawing/2014/main" id="{8191A50E-371D-4282-9C70-5149E10100EE}"/>
              </a:ext>
            </a:extLst>
          </p:cNvPr>
          <p:cNvSpPr txBox="1"/>
          <p:nvPr/>
        </p:nvSpPr>
        <p:spPr>
          <a:xfrm>
            <a:off x="1863294" y="1775011"/>
            <a:ext cx="8417859" cy="2739211"/>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El diseño de bases de datos con el modelo Entidad-Relación es una etapa fundamental antes de crear una base de datos en un sistema gestor como MySQL, PostgreSQL, Oracle o SQL Server. Su propósito principal es analizar la información que necesita manejar un sistema y organizarla de manera lógica, clara y eficiente.</a:t>
            </a:r>
          </a:p>
          <a:p>
            <a:pPr algn="just"/>
            <a:r>
              <a:rPr lang="es-MX" sz="1400" dirty="0">
                <a:latin typeface="Arial" panose="020B0604020202020204" pitchFamily="34" charset="0"/>
                <a:cs typeface="Arial" panose="020B0604020202020204" pitchFamily="34" charset="0"/>
              </a:rPr>
              <a:t>Antes de crear tablas directamente, es importante identificar qué datos se van a almacenar, qué objetos forman parte del sistema, qué características tiene cada uno y cómo se relacionan entre sí. Por ejemplo, en un sistema escolar se pueden identificar entidades como alumnos, maestros, materias, grupos e inscripciones. Cada una de estas entidades tiene datos propios y también se conecta con otras entidades.</a:t>
            </a:r>
          </a:p>
          <a:p>
            <a:pPr algn="just"/>
            <a:r>
              <a:rPr lang="es-MX" sz="1400" dirty="0">
                <a:latin typeface="Arial" panose="020B0604020202020204" pitchFamily="34" charset="0"/>
                <a:cs typeface="Arial" panose="020B0604020202020204" pitchFamily="34" charset="0"/>
              </a:rPr>
              <a:t>El modelo E-R permite representar esta información mediante diagramas, lo cual facilita la comprensión del sistema antes de implementarlo.</a:t>
            </a:r>
          </a:p>
          <a:p>
            <a:pPr algn="just"/>
            <a:endParaRPr lang="es-MX"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4DEC29E2-A0AA-4A04-86EE-438394316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6065" y="4514222"/>
            <a:ext cx="3519869" cy="1757082"/>
          </a:xfrm>
          <a:prstGeom prst="ellipse">
            <a:avLst/>
          </a:prstGeom>
          <a:ln>
            <a:noFill/>
          </a:ln>
          <a:effectLst>
            <a:softEdge rad="112500"/>
          </a:effectLst>
        </p:spPr>
      </p:pic>
    </p:spTree>
    <p:extLst>
      <p:ext uri="{BB962C8B-B14F-4D97-AF65-F5344CB8AC3E}">
        <p14:creationId xmlns:p14="http://schemas.microsoft.com/office/powerpoint/2010/main" val="847892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5FC4491-A393-43EE-875B-88932B9ED361}"/>
              </a:ext>
            </a:extLst>
          </p:cNvPr>
          <p:cNvSpPr>
            <a:spLocks noGrp="1"/>
          </p:cNvSpPr>
          <p:nvPr>
            <p:ph type="title"/>
          </p:nvPr>
        </p:nvSpPr>
        <p:spPr>
          <a:xfrm>
            <a:off x="2048123" y="0"/>
            <a:ext cx="8095754" cy="1434401"/>
          </a:xfrm>
        </p:spPr>
        <p:txBody>
          <a:bodyPr>
            <a:normAutofit/>
          </a:bodyPr>
          <a:lstStyle/>
          <a:p>
            <a:r>
              <a:rPr lang="es-MX" sz="2400" dirty="0">
                <a:latin typeface="Arial Black" panose="020B0A04020102020204" pitchFamily="34" charset="0"/>
              </a:rPr>
              <a:t>2.1 El Proceso de Diseño</a:t>
            </a:r>
          </a:p>
        </p:txBody>
      </p:sp>
      <p:sp>
        <p:nvSpPr>
          <p:cNvPr id="6" name="CuadroTexto 5">
            <a:extLst>
              <a:ext uri="{FF2B5EF4-FFF2-40B4-BE49-F238E27FC236}">
                <a16:creationId xmlns:a16="http://schemas.microsoft.com/office/drawing/2014/main" id="{189773B1-6C66-437A-B8E5-14E70BC30F04}"/>
              </a:ext>
            </a:extLst>
          </p:cNvPr>
          <p:cNvSpPr txBox="1"/>
          <p:nvPr/>
        </p:nvSpPr>
        <p:spPr>
          <a:xfrm>
            <a:off x="1950135" y="1281953"/>
            <a:ext cx="8193742" cy="3600986"/>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El proceso de diseño de una base de datos consiste en planear cómo se organizará la información dentro de un sistema. Este proceso no debe hacerse de manera improvisada, ya que una mala organización puede causar problemas en el funcionamiento del sistema.</a:t>
            </a:r>
          </a:p>
          <a:p>
            <a:pPr algn="just"/>
            <a:r>
              <a:rPr lang="es-MX" sz="1400" dirty="0">
                <a:latin typeface="Arial" panose="020B0604020202020204" pitchFamily="34" charset="0"/>
                <a:cs typeface="Arial" panose="020B0604020202020204" pitchFamily="34" charset="0"/>
              </a:rPr>
              <a:t>Primero se realiza un análisis de requisitos, donde se recopila toda la información que el sistema necesita guardar. En esta etapa se pueden hacer preguntas como: ¿qué datos se necesitan?, ¿quién usará el sistema?, ¿qué información se consultará?, ¿qué datos se van a modificar o eliminar?</a:t>
            </a:r>
          </a:p>
          <a:p>
            <a:pPr algn="just"/>
            <a:r>
              <a:rPr lang="es-MX" sz="1400" dirty="0">
                <a:latin typeface="Arial" panose="020B0604020202020204" pitchFamily="34" charset="0"/>
                <a:cs typeface="Arial" panose="020B0604020202020204" pitchFamily="34" charset="0"/>
              </a:rPr>
              <a:t>Después se realiza el diseño conceptual, donde se identifican las entidades, atributos y relaciones. Aquí se utiliza comúnmente el modelo Entidad-Relación, ya que permite representar la información de manera gráfica y sencilla.</a:t>
            </a:r>
          </a:p>
          <a:p>
            <a:pPr algn="just"/>
            <a:r>
              <a:rPr lang="es-MX" sz="1400" dirty="0">
                <a:latin typeface="Arial" panose="020B0604020202020204" pitchFamily="34" charset="0"/>
                <a:cs typeface="Arial" panose="020B0604020202020204" pitchFamily="34" charset="0"/>
              </a:rPr>
              <a:t>Posteriormente se realiza el diseño lógico, donde el modelo conceptual se transforma en una estructura más formal, normalmente en tablas. En esta parte se definen claves primarias, claves foráneas, tipos de relaciones y reglas de integridad.</a:t>
            </a:r>
          </a:p>
          <a:p>
            <a:pPr algn="just"/>
            <a:r>
              <a:rPr lang="es-MX" sz="1400" dirty="0">
                <a:latin typeface="Arial" panose="020B0604020202020204" pitchFamily="34" charset="0"/>
                <a:cs typeface="Arial" panose="020B0604020202020204" pitchFamily="34" charset="0"/>
              </a:rPr>
              <a:t>Finalmente se realiza el diseño físico, donde se decide cómo se almacenarán los datos dentro del sistema gestor de base de datos. Aquí se consideran aspectos como el tipo de dato, índices, espacio de almacenamiento, seguridad y rendimiento.</a:t>
            </a:r>
          </a:p>
          <a:p>
            <a:endParaRPr lang="es-MX" dirty="0"/>
          </a:p>
        </p:txBody>
      </p:sp>
    </p:spTree>
    <p:extLst>
      <p:ext uri="{BB962C8B-B14F-4D97-AF65-F5344CB8AC3E}">
        <p14:creationId xmlns:p14="http://schemas.microsoft.com/office/powerpoint/2010/main" val="2867086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428FA-34EC-45F4-A65F-1EECDC4AE47B}"/>
              </a:ext>
            </a:extLst>
          </p:cNvPr>
          <p:cNvSpPr>
            <a:spLocks noGrp="1"/>
          </p:cNvSpPr>
          <p:nvPr>
            <p:ph type="title"/>
          </p:nvPr>
        </p:nvSpPr>
        <p:spPr>
          <a:xfrm>
            <a:off x="2545353" y="0"/>
            <a:ext cx="6867590" cy="995130"/>
          </a:xfrm>
        </p:spPr>
        <p:txBody>
          <a:bodyPr>
            <a:normAutofit/>
          </a:bodyPr>
          <a:lstStyle/>
          <a:p>
            <a:r>
              <a:rPr lang="es-MX" sz="2400" b="1" dirty="0">
                <a:latin typeface="Arial" panose="020B0604020202020204" pitchFamily="34" charset="0"/>
                <a:cs typeface="Arial" panose="020B0604020202020204" pitchFamily="34" charset="0"/>
              </a:rPr>
              <a:t>2.2 Modelo Entidad-Relación</a:t>
            </a:r>
          </a:p>
        </p:txBody>
      </p:sp>
      <p:sp>
        <p:nvSpPr>
          <p:cNvPr id="3" name="Marcador de contenido 2">
            <a:extLst>
              <a:ext uri="{FF2B5EF4-FFF2-40B4-BE49-F238E27FC236}">
                <a16:creationId xmlns:a16="http://schemas.microsoft.com/office/drawing/2014/main" id="{8D64317B-FDD8-441B-9C3C-8D4AFC1FD13B}"/>
              </a:ext>
            </a:extLst>
          </p:cNvPr>
          <p:cNvSpPr>
            <a:spLocks noGrp="1"/>
          </p:cNvSpPr>
          <p:nvPr>
            <p:ph sz="quarter" idx="13"/>
          </p:nvPr>
        </p:nvSpPr>
        <p:spPr>
          <a:xfrm>
            <a:off x="1281327" y="1407868"/>
            <a:ext cx="9270132" cy="3424107"/>
          </a:xfrm>
        </p:spPr>
        <p:txBody>
          <a:bodyPr>
            <a:normAutofit fontScale="70000" lnSpcReduction="20000"/>
          </a:bodyPr>
          <a:lstStyle/>
          <a:p>
            <a:pPr marL="0" indent="0" algn="just">
              <a:buNone/>
            </a:pPr>
            <a:r>
              <a:rPr lang="es-MX" cap="none" dirty="0">
                <a:latin typeface="Arial" panose="020B0604020202020204" pitchFamily="34" charset="0"/>
                <a:cs typeface="Arial" panose="020B0604020202020204" pitchFamily="34" charset="0"/>
              </a:rPr>
              <a:t>El modelo entidad-relación, también conocido como modelo e-r o </a:t>
            </a:r>
            <a:r>
              <a:rPr lang="es-MX" cap="none" dirty="0" err="1">
                <a:latin typeface="Arial" panose="020B0604020202020204" pitchFamily="34" charset="0"/>
                <a:cs typeface="Arial" panose="020B0604020202020204" pitchFamily="34" charset="0"/>
              </a:rPr>
              <a:t>mer</a:t>
            </a:r>
            <a:r>
              <a:rPr lang="es-MX" cap="none" dirty="0">
                <a:latin typeface="Arial" panose="020B0604020202020204" pitchFamily="34" charset="0"/>
                <a:cs typeface="Arial" panose="020B0604020202020204" pitchFamily="34" charset="0"/>
              </a:rPr>
              <a:t>, es una herramienta utilizada en el diseño de bases de datos para representar de forma visual cómo se organiza la información dentro de un sistema. actualmente sigue siendo muy utilizado porque permite planear la estructura de una base de datos antes de crearla en programas como </a:t>
            </a:r>
            <a:r>
              <a:rPr lang="es-MX" cap="none" dirty="0" err="1">
                <a:latin typeface="Arial" panose="020B0604020202020204" pitchFamily="34" charset="0"/>
                <a:cs typeface="Arial" panose="020B0604020202020204" pitchFamily="34" charset="0"/>
              </a:rPr>
              <a:t>mysql</a:t>
            </a:r>
            <a:r>
              <a:rPr lang="es-MX" cap="none" dirty="0">
                <a:latin typeface="Arial" panose="020B0604020202020204" pitchFamily="34" charset="0"/>
                <a:cs typeface="Arial" panose="020B0604020202020204" pitchFamily="34" charset="0"/>
              </a:rPr>
              <a:t>, </a:t>
            </a:r>
            <a:r>
              <a:rPr lang="es-MX" cap="none" dirty="0" err="1">
                <a:latin typeface="Arial" panose="020B0604020202020204" pitchFamily="34" charset="0"/>
                <a:cs typeface="Arial" panose="020B0604020202020204" pitchFamily="34" charset="0"/>
              </a:rPr>
              <a:t>postgresql</a:t>
            </a:r>
            <a:r>
              <a:rPr lang="es-MX" cap="none" dirty="0">
                <a:latin typeface="Arial" panose="020B0604020202020204" pitchFamily="34" charset="0"/>
                <a:cs typeface="Arial" panose="020B0604020202020204" pitchFamily="34" charset="0"/>
              </a:rPr>
              <a:t>, </a:t>
            </a:r>
            <a:r>
              <a:rPr lang="es-MX" cap="none" dirty="0" err="1">
                <a:latin typeface="Arial" panose="020B0604020202020204" pitchFamily="34" charset="0"/>
                <a:cs typeface="Arial" panose="020B0604020202020204" pitchFamily="34" charset="0"/>
              </a:rPr>
              <a:t>oracle</a:t>
            </a:r>
            <a:r>
              <a:rPr lang="es-MX" cap="none" dirty="0">
                <a:latin typeface="Arial" panose="020B0604020202020204" pitchFamily="34" charset="0"/>
                <a:cs typeface="Arial" panose="020B0604020202020204" pitchFamily="34" charset="0"/>
              </a:rPr>
              <a:t>, </a:t>
            </a:r>
            <a:r>
              <a:rPr lang="es-MX" cap="none" dirty="0" err="1">
                <a:latin typeface="Arial" panose="020B0604020202020204" pitchFamily="34" charset="0"/>
                <a:cs typeface="Arial" panose="020B0604020202020204" pitchFamily="34" charset="0"/>
              </a:rPr>
              <a:t>sql</a:t>
            </a:r>
            <a:r>
              <a:rPr lang="es-MX" cap="none" dirty="0">
                <a:latin typeface="Arial" panose="020B0604020202020204" pitchFamily="34" charset="0"/>
                <a:cs typeface="Arial" panose="020B0604020202020204" pitchFamily="34" charset="0"/>
              </a:rPr>
              <a:t> server o incluso en sistemas modernos en la nube.</a:t>
            </a:r>
          </a:p>
          <a:p>
            <a:pPr marL="0" indent="0" algn="just">
              <a:buNone/>
            </a:pPr>
            <a:r>
              <a:rPr lang="es-MX" cap="none" dirty="0">
                <a:latin typeface="Arial" panose="020B0604020202020204" pitchFamily="34" charset="0"/>
                <a:cs typeface="Arial" panose="020B0604020202020204" pitchFamily="34" charset="0"/>
              </a:rPr>
              <a:t>este modelo ayuda a identificar los elementos principales que forman parte de un sistema. por ejemplo, en una escuela se pueden encontrar entidades como alumno, profesor, materia e inscripción. en una tienda en línea se pueden encontrar entidades como cliente, producto, pedido y pago. cada una de estas entidades tiene datos propios y también puede relacionarse con otras entidades.</a:t>
            </a:r>
          </a:p>
          <a:p>
            <a:pPr marL="0" indent="0" algn="just">
              <a:buNone/>
            </a:pPr>
            <a:r>
              <a:rPr lang="es-MX" cap="none" dirty="0">
                <a:latin typeface="Arial" panose="020B0604020202020204" pitchFamily="34" charset="0"/>
                <a:cs typeface="Arial" panose="020B0604020202020204" pitchFamily="34" charset="0"/>
              </a:rPr>
              <a:t>el modelo e-r es importante porque permite entender de manera sencilla qué información se necesita guardar y cómo se conecta entre sí. por eso se utiliza mucho en la etapa de diseño conceptual, que es cuando todavía no se crea la base de datos, sino que primero se analiza y se representa la información mediante un diagrama.</a:t>
            </a:r>
          </a:p>
          <a:p>
            <a:endParaRPr lang="es-MX" dirty="0"/>
          </a:p>
        </p:txBody>
      </p:sp>
    </p:spTree>
    <p:extLst>
      <p:ext uri="{BB962C8B-B14F-4D97-AF65-F5344CB8AC3E}">
        <p14:creationId xmlns:p14="http://schemas.microsoft.com/office/powerpoint/2010/main" val="67056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264485-A6FC-466C-8224-DA2D4947B008}"/>
              </a:ext>
            </a:extLst>
          </p:cNvPr>
          <p:cNvSpPr>
            <a:spLocks noGrp="1"/>
          </p:cNvSpPr>
          <p:nvPr>
            <p:ph type="title"/>
          </p:nvPr>
        </p:nvSpPr>
        <p:spPr>
          <a:xfrm>
            <a:off x="2021228" y="134424"/>
            <a:ext cx="8149543" cy="932377"/>
          </a:xfrm>
        </p:spPr>
        <p:txBody>
          <a:bodyPr>
            <a:normAutofit/>
          </a:bodyPr>
          <a:lstStyle/>
          <a:p>
            <a:r>
              <a:rPr lang="es-MX" sz="2400" b="1" dirty="0">
                <a:latin typeface="Arial" panose="020B0604020202020204" pitchFamily="34" charset="0"/>
                <a:cs typeface="Arial" panose="020B0604020202020204" pitchFamily="34" charset="0"/>
              </a:rPr>
              <a:t>2.3 Diseño con Diagramas E-R</a:t>
            </a:r>
          </a:p>
        </p:txBody>
      </p:sp>
      <p:sp>
        <p:nvSpPr>
          <p:cNvPr id="3" name="Marcador de contenido 2">
            <a:extLst>
              <a:ext uri="{FF2B5EF4-FFF2-40B4-BE49-F238E27FC236}">
                <a16:creationId xmlns:a16="http://schemas.microsoft.com/office/drawing/2014/main" id="{9111B76D-61A7-4902-8768-78B66F25D68C}"/>
              </a:ext>
            </a:extLst>
          </p:cNvPr>
          <p:cNvSpPr>
            <a:spLocks noGrp="1"/>
          </p:cNvSpPr>
          <p:nvPr>
            <p:ph sz="quarter" idx="13"/>
          </p:nvPr>
        </p:nvSpPr>
        <p:spPr>
          <a:xfrm>
            <a:off x="1317185" y="1461657"/>
            <a:ext cx="9256997" cy="3424107"/>
          </a:xfrm>
        </p:spPr>
        <p:txBody>
          <a:bodyPr>
            <a:normAutofit fontScale="77500" lnSpcReduction="20000"/>
          </a:bodyPr>
          <a:lstStyle/>
          <a:p>
            <a:pPr marL="0" indent="0" algn="just">
              <a:buNone/>
            </a:pPr>
            <a:r>
              <a:rPr lang="es-MX" cap="none" dirty="0">
                <a:latin typeface="Arial" panose="020B0604020202020204" pitchFamily="34" charset="0"/>
                <a:cs typeface="Arial" panose="020B0604020202020204" pitchFamily="34" charset="0"/>
              </a:rPr>
              <a:t>El diseño con diagramas e-r consiste en representar gráficamente la estructura de una base de datos. estos diagramas permiten observar de manera visual las entidades, atributos y relaciones de un sistema.</a:t>
            </a:r>
          </a:p>
          <a:p>
            <a:pPr marL="0" indent="0" algn="just">
              <a:buNone/>
            </a:pPr>
            <a:r>
              <a:rPr lang="es-MX" cap="none" dirty="0">
                <a:latin typeface="Arial" panose="020B0604020202020204" pitchFamily="34" charset="0"/>
                <a:cs typeface="Arial" panose="020B0604020202020204" pitchFamily="34" charset="0"/>
              </a:rPr>
              <a:t>los diagramas e-r ayudan a comprender cómo se organiza la información y cómo se conectan los datos entre sí. por ejemplo, en un sistema de ventas, se puede observar que un cliente realiza pedidos, que cada pedido contiene productos y que cada producto pertenece a una categoría.</a:t>
            </a:r>
          </a:p>
          <a:p>
            <a:pPr marL="0" indent="0" algn="just">
              <a:buNone/>
            </a:pPr>
            <a:r>
              <a:rPr lang="es-MX" cap="none" dirty="0">
                <a:latin typeface="Arial" panose="020B0604020202020204" pitchFamily="34" charset="0"/>
                <a:cs typeface="Arial" panose="020B0604020202020204" pitchFamily="34" charset="0"/>
              </a:rPr>
              <a:t>una de las ventajas de estos diagramas es que permiten detectar errores antes de crear la base de datos. si existe una relación incorrecta o falta una entidad importante, se puede corregir desde el diseño sin afectar todavía la implementación.</a:t>
            </a:r>
          </a:p>
          <a:p>
            <a:pPr marL="0" indent="0" algn="just">
              <a:buNone/>
            </a:pPr>
            <a:r>
              <a:rPr lang="es-MX" cap="none" dirty="0">
                <a:latin typeface="Arial" panose="020B0604020202020204" pitchFamily="34" charset="0"/>
                <a:cs typeface="Arial" panose="020B0604020202020204" pitchFamily="34" charset="0"/>
              </a:rPr>
              <a:t>además, los diagramas e-r facilitan la comunicación entre las personas que participan en el desarrollo del sistema, como analistas, programadores, diseñadores de base de datos y usuarios.</a:t>
            </a:r>
          </a:p>
          <a:p>
            <a:endParaRPr lang="es-MX" dirty="0"/>
          </a:p>
        </p:txBody>
      </p:sp>
    </p:spTree>
    <p:extLst>
      <p:ext uri="{BB962C8B-B14F-4D97-AF65-F5344CB8AC3E}">
        <p14:creationId xmlns:p14="http://schemas.microsoft.com/office/powerpoint/2010/main" val="2180991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0233B8-5055-4F67-AA31-83CA3DA73D6C}"/>
              </a:ext>
            </a:extLst>
          </p:cNvPr>
          <p:cNvSpPr>
            <a:spLocks noGrp="1"/>
          </p:cNvSpPr>
          <p:nvPr>
            <p:ph type="title"/>
          </p:nvPr>
        </p:nvSpPr>
        <p:spPr>
          <a:xfrm>
            <a:off x="2119840" y="206142"/>
            <a:ext cx="7952319" cy="358636"/>
          </a:xfrm>
        </p:spPr>
        <p:txBody>
          <a:bodyPr>
            <a:normAutofit fontScale="90000"/>
          </a:bodyPr>
          <a:lstStyle/>
          <a:p>
            <a:r>
              <a:rPr lang="es-MX" sz="2400" b="1" dirty="0">
                <a:latin typeface="Arial" panose="020B0604020202020204" pitchFamily="34" charset="0"/>
                <a:cs typeface="Arial" panose="020B0604020202020204" pitchFamily="34" charset="0"/>
              </a:rPr>
              <a:t>2.4 Modelo E-R Extendido</a:t>
            </a:r>
          </a:p>
        </p:txBody>
      </p:sp>
      <p:sp>
        <p:nvSpPr>
          <p:cNvPr id="3" name="Marcador de contenido 2">
            <a:extLst>
              <a:ext uri="{FF2B5EF4-FFF2-40B4-BE49-F238E27FC236}">
                <a16:creationId xmlns:a16="http://schemas.microsoft.com/office/drawing/2014/main" id="{7B878420-4BEF-4127-BBF9-2F54CFBA65A7}"/>
              </a:ext>
            </a:extLst>
          </p:cNvPr>
          <p:cNvSpPr>
            <a:spLocks noGrp="1"/>
          </p:cNvSpPr>
          <p:nvPr>
            <p:ph sz="quarter" idx="13"/>
          </p:nvPr>
        </p:nvSpPr>
        <p:spPr>
          <a:xfrm>
            <a:off x="1424763" y="1273398"/>
            <a:ext cx="9158385" cy="3208955"/>
          </a:xfrm>
        </p:spPr>
        <p:txBody>
          <a:bodyPr>
            <a:normAutofit fontScale="47500" lnSpcReduction="20000"/>
          </a:bodyPr>
          <a:lstStyle/>
          <a:p>
            <a:pPr marL="0" indent="0" algn="just">
              <a:buNone/>
            </a:pPr>
            <a:r>
              <a:rPr lang="es-MX" sz="3400" cap="none" dirty="0">
                <a:latin typeface="Arial" panose="020B0604020202020204" pitchFamily="34" charset="0"/>
                <a:cs typeface="Arial" panose="020B0604020202020204" pitchFamily="34" charset="0"/>
              </a:rPr>
              <a:t>El modelo e-r extendido es una ampliación del modelo entidad-relación tradicional. se utiliza cuando el modelo básico no es suficiente para representar sistemas más complejos.</a:t>
            </a:r>
          </a:p>
          <a:p>
            <a:pPr marL="0" indent="0" algn="just">
              <a:buNone/>
            </a:pPr>
            <a:r>
              <a:rPr lang="es-MX" sz="3400" cap="none" dirty="0">
                <a:latin typeface="Arial" panose="020B0604020202020204" pitchFamily="34" charset="0"/>
                <a:cs typeface="Arial" panose="020B0604020202020204" pitchFamily="34" charset="0"/>
              </a:rPr>
              <a:t>este modelo agrega conceptos como generalización, especialización, herencia, agregación y categorías. estos elementos permiten representar mejor la realidad de ciertos sistemas, sobre todo cuando existen entidades que comparten características o pertenecen a una misma clasificación.</a:t>
            </a:r>
          </a:p>
          <a:p>
            <a:pPr marL="0" indent="0" algn="just">
              <a:buNone/>
            </a:pPr>
            <a:r>
              <a:rPr lang="es-MX" sz="3400" cap="none" dirty="0">
                <a:latin typeface="Arial" panose="020B0604020202020204" pitchFamily="34" charset="0"/>
                <a:cs typeface="Arial" panose="020B0604020202020204" pitchFamily="34" charset="0"/>
              </a:rPr>
              <a:t>por ejemplo, en un sistema escolar se puede tener una entidad general llamada persona, y de ella pueden derivarse entidades más específicas como alumno, profesor y administrativo. todas estas entidades pueden compartir atributos como nombre, edad, correo y teléfono, pero también pueden tener atributos propios.</a:t>
            </a:r>
          </a:p>
          <a:p>
            <a:pPr marL="0" indent="0" algn="just">
              <a:buNone/>
            </a:pPr>
            <a:r>
              <a:rPr lang="es-MX" sz="3400" cap="none" dirty="0">
                <a:latin typeface="Arial" panose="020B0604020202020204" pitchFamily="34" charset="0"/>
                <a:cs typeface="Arial" panose="020B0604020202020204" pitchFamily="34" charset="0"/>
              </a:rPr>
              <a:t>el modelo e-r extendido permite organizar mejor la información, evitar repetición de datos y representar jerarquías de manera más clara.</a:t>
            </a:r>
          </a:p>
          <a:p>
            <a:endParaRPr lang="es-MX" dirty="0"/>
          </a:p>
        </p:txBody>
      </p:sp>
    </p:spTree>
    <p:extLst>
      <p:ext uri="{BB962C8B-B14F-4D97-AF65-F5344CB8AC3E}">
        <p14:creationId xmlns:p14="http://schemas.microsoft.com/office/powerpoint/2010/main" val="3015584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4547FD-4139-4DA1-810D-A34A1CDD84BB}"/>
              </a:ext>
            </a:extLst>
          </p:cNvPr>
          <p:cNvSpPr>
            <a:spLocks noGrp="1"/>
          </p:cNvSpPr>
          <p:nvPr>
            <p:ph type="title"/>
          </p:nvPr>
        </p:nvSpPr>
        <p:spPr>
          <a:xfrm>
            <a:off x="2679822" y="143389"/>
            <a:ext cx="6320743" cy="448284"/>
          </a:xfrm>
        </p:spPr>
        <p:txBody>
          <a:bodyPr>
            <a:normAutofit/>
          </a:bodyPr>
          <a:lstStyle/>
          <a:p>
            <a:r>
              <a:rPr lang="es-MX" sz="2400" b="1" dirty="0">
                <a:latin typeface="Arial" panose="020B0604020202020204" pitchFamily="34" charset="0"/>
                <a:cs typeface="Arial" panose="020B0604020202020204" pitchFamily="34" charset="0"/>
              </a:rPr>
              <a:t>2.5 La Notación E-R con UML</a:t>
            </a:r>
          </a:p>
        </p:txBody>
      </p:sp>
      <p:sp>
        <p:nvSpPr>
          <p:cNvPr id="4" name="Rectangle 1">
            <a:extLst>
              <a:ext uri="{FF2B5EF4-FFF2-40B4-BE49-F238E27FC236}">
                <a16:creationId xmlns:a16="http://schemas.microsoft.com/office/drawing/2014/main" id="{8090D2F5-EE36-49D3-B7E4-2304DFD09E10}"/>
              </a:ext>
            </a:extLst>
          </p:cNvPr>
          <p:cNvSpPr>
            <a:spLocks noGrp="1" noChangeArrowheads="1"/>
          </p:cNvSpPr>
          <p:nvPr>
            <p:ph sz="quarter" idx="13"/>
          </p:nvPr>
        </p:nvSpPr>
        <p:spPr bwMode="auto">
          <a:xfrm>
            <a:off x="1237129" y="1381875"/>
            <a:ext cx="9906001"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cap="none" dirty="0">
                <a:latin typeface="Arial" panose="020B0604020202020204" pitchFamily="34" charset="0"/>
                <a:cs typeface="Arial" panose="020B0604020202020204" pitchFamily="34" charset="0"/>
              </a:rPr>
              <a:t>La notación e-r con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consiste en representar los elementos del modelo entidad-relación utilizando diagramas de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principalmente el diagrama de clases.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significa lenguaje unificado de modelado y se utiliza mucho en el desarrollo de software para representar la estructura y funcionamiento de un sistema.</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cap="none" dirty="0">
                <a:latin typeface="Arial" panose="020B0604020202020204" pitchFamily="34" charset="0"/>
                <a:cs typeface="Arial" panose="020B0604020202020204" pitchFamily="34" charset="0"/>
              </a:rPr>
              <a:t>aunque el modelo e-r se enfoca directamente en el diseño de bases de datos,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puede servir como apoyo para representar entidades, atributos y relaciones de una forma más cercana a la programación orientada a objetos. por eso, actualmente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se usa en muchos proyectos donde se necesita relacionar el diseño de la base de datos con el diseño general del sistema.</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cap="none" dirty="0">
                <a:latin typeface="Arial" panose="020B0604020202020204" pitchFamily="34" charset="0"/>
                <a:cs typeface="Arial" panose="020B0604020202020204" pitchFamily="34" charset="0"/>
              </a:rPr>
              <a:t>en la notación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una entidad del modelo e-r se puede representar como una clase. por ejemplo, la entidad cliente puede convertirse en una clase llamada cliente. dentro de esa clase se colocan sus atributos, como </a:t>
            </a:r>
            <a:r>
              <a:rPr lang="es-MX" altLang="es-MX" sz="1600" cap="none" dirty="0" err="1">
                <a:latin typeface="Arial" panose="020B0604020202020204" pitchFamily="34" charset="0"/>
                <a:cs typeface="Arial" panose="020B0604020202020204" pitchFamily="34" charset="0"/>
              </a:rPr>
              <a:t>idcliente</a:t>
            </a:r>
            <a:r>
              <a:rPr lang="es-MX" altLang="es-MX" sz="1600" cap="none" dirty="0">
                <a:latin typeface="Arial" panose="020B0604020202020204" pitchFamily="34" charset="0"/>
                <a:cs typeface="Arial" panose="020B0604020202020204" pitchFamily="34" charset="0"/>
              </a:rPr>
              <a:t>, nombre, correo y </a:t>
            </a:r>
            <a:r>
              <a:rPr lang="es-MX" altLang="es-MX" sz="1600" cap="none" dirty="0" err="1">
                <a:latin typeface="Arial" panose="020B0604020202020204" pitchFamily="34" charset="0"/>
                <a:cs typeface="Arial" panose="020B0604020202020204" pitchFamily="34" charset="0"/>
              </a:rPr>
              <a:t>telefono</a:t>
            </a:r>
            <a:r>
              <a:rPr lang="es-MX" altLang="es-MX" sz="1600" cap="none" dirty="0">
                <a:latin typeface="Arial" panose="020B0604020202020204" pitchFamily="34" charset="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cap="none" dirty="0">
                <a:latin typeface="Arial" panose="020B0604020202020204" pitchFamily="34" charset="0"/>
                <a:cs typeface="Arial" panose="020B0604020202020204" pitchFamily="34" charset="0"/>
              </a:rPr>
              <a:t>las relaciones entre entidades se representan en </a:t>
            </a:r>
            <a:r>
              <a:rPr lang="es-MX" altLang="es-MX" sz="1600" cap="none" dirty="0" err="1">
                <a:latin typeface="Arial" panose="020B0604020202020204" pitchFamily="34" charset="0"/>
                <a:cs typeface="Arial" panose="020B0604020202020204" pitchFamily="34" charset="0"/>
              </a:rPr>
              <a:t>uml</a:t>
            </a:r>
            <a:r>
              <a:rPr lang="es-MX" altLang="es-MX" sz="1600" cap="none" dirty="0">
                <a:latin typeface="Arial" panose="020B0604020202020204" pitchFamily="34" charset="0"/>
                <a:cs typeface="Arial" panose="020B0604020202020204" pitchFamily="34" charset="0"/>
              </a:rPr>
              <a:t> mediante asociaciones, que son líneas que conectan una clase con otra. por ejemplo, si un cliente realiza pedidos, se puede crear una asociación entre la clase cliente y la clase pedido.</a:t>
            </a:r>
          </a:p>
        </p:txBody>
      </p:sp>
    </p:spTree>
    <p:extLst>
      <p:ext uri="{BB962C8B-B14F-4D97-AF65-F5344CB8AC3E}">
        <p14:creationId xmlns:p14="http://schemas.microsoft.com/office/powerpoint/2010/main" val="384954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42C7F-75A3-4E7B-8BF0-2D121CE371A8}"/>
              </a:ext>
            </a:extLst>
          </p:cNvPr>
          <p:cNvSpPr>
            <a:spLocks noGrp="1"/>
          </p:cNvSpPr>
          <p:nvPr>
            <p:ph type="title"/>
          </p:nvPr>
        </p:nvSpPr>
        <p:spPr>
          <a:xfrm>
            <a:off x="2528047" y="188212"/>
            <a:ext cx="6302814" cy="448284"/>
          </a:xfrm>
        </p:spPr>
        <p:txBody>
          <a:bodyPr>
            <a:normAutofit/>
          </a:bodyPr>
          <a:lstStyle/>
          <a:p>
            <a:r>
              <a:rPr lang="es-MX" sz="2000" b="1" dirty="0">
                <a:latin typeface="Arial" panose="020B0604020202020204" pitchFamily="34" charset="0"/>
                <a:cs typeface="Arial" panose="020B0604020202020204" pitchFamily="34" charset="0"/>
              </a:rPr>
              <a:t>conclusión</a:t>
            </a:r>
          </a:p>
        </p:txBody>
      </p:sp>
      <p:sp>
        <p:nvSpPr>
          <p:cNvPr id="3" name="Marcador de contenido 2">
            <a:extLst>
              <a:ext uri="{FF2B5EF4-FFF2-40B4-BE49-F238E27FC236}">
                <a16:creationId xmlns:a16="http://schemas.microsoft.com/office/drawing/2014/main" id="{1A69F9D4-587C-49EF-B403-8975A58719D0}"/>
              </a:ext>
            </a:extLst>
          </p:cNvPr>
          <p:cNvSpPr>
            <a:spLocks noGrp="1"/>
          </p:cNvSpPr>
          <p:nvPr>
            <p:ph sz="quarter" idx="13"/>
          </p:nvPr>
        </p:nvSpPr>
        <p:spPr>
          <a:xfrm>
            <a:off x="1192306" y="1479586"/>
            <a:ext cx="10291481" cy="3424107"/>
          </a:xfrm>
        </p:spPr>
        <p:txBody>
          <a:bodyPr>
            <a:noAutofit/>
          </a:bodyPr>
          <a:lstStyle/>
          <a:p>
            <a:pPr marL="0" indent="0" algn="just">
              <a:buNone/>
            </a:pPr>
            <a:r>
              <a:rPr lang="es-MX" sz="1600" cap="none" dirty="0">
                <a:latin typeface="Arial" panose="020B0604020202020204" pitchFamily="34" charset="0"/>
                <a:cs typeface="Arial" panose="020B0604020202020204" pitchFamily="34" charset="0"/>
              </a:rPr>
              <a:t>El diseño de bases de datos con el modelo entidad-relación es importante porque nos ayuda a organizar la información antes de crear una base de datos. es como hacer un plan antes de construir algo, ya que primero debemos saber qué datos vamos a guardar, cómo se relacionan y qué función tendrá cada parte dentro del sistema. este modelo nos permite identificar elementos como las entidades, los atributos y las relaciones. por ejemplo, si hablamos de un sistema escolar, podemos tener entidades como alumnos, maestros y materias. cada una tiene sus propios datos, y también se relacionan entre sí. gracias a esto, es más fácil entender cómo funcionará la base de datos. también entendí que los diagramas e-r son muy útiles porque muestran la información de manera visual. esto facilita detectar errores antes de crear las tablas, evitando problemas como datos repetidos o relaciones mal organizadas. además, el modelo e-r extendido y </a:t>
            </a:r>
            <a:r>
              <a:rPr lang="es-MX" sz="1600" cap="none" dirty="0" err="1">
                <a:latin typeface="Arial" panose="020B0604020202020204" pitchFamily="34" charset="0"/>
                <a:cs typeface="Arial" panose="020B0604020202020204" pitchFamily="34" charset="0"/>
              </a:rPr>
              <a:t>uml</a:t>
            </a:r>
            <a:r>
              <a:rPr lang="es-MX" sz="1600" cap="none" dirty="0">
                <a:latin typeface="Arial" panose="020B0604020202020204" pitchFamily="34" charset="0"/>
                <a:cs typeface="Arial" panose="020B0604020202020204" pitchFamily="34" charset="0"/>
              </a:rPr>
              <a:t> ayudan cuando el sistema es más grande o necesita representarse de una forma más completa. por eso, considero que este tema es muy importante para el desarrollo de sistemas, porque una base de datos bien diseñada permite trabajar de manera más ordenada, rápida y segura.</a:t>
            </a:r>
          </a:p>
        </p:txBody>
      </p:sp>
    </p:spTree>
    <p:extLst>
      <p:ext uri="{BB962C8B-B14F-4D97-AF65-F5344CB8AC3E}">
        <p14:creationId xmlns:p14="http://schemas.microsoft.com/office/powerpoint/2010/main" val="288004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B6A37-8952-418B-B2F6-596B0545C70D}"/>
              </a:ext>
            </a:extLst>
          </p:cNvPr>
          <p:cNvSpPr>
            <a:spLocks noGrp="1"/>
          </p:cNvSpPr>
          <p:nvPr>
            <p:ph type="title"/>
          </p:nvPr>
        </p:nvSpPr>
        <p:spPr/>
        <p:txBody>
          <a:bodyPr/>
          <a:lstStyle/>
          <a:p>
            <a:r>
              <a:rPr lang="es-MX" b="1" dirty="0">
                <a:latin typeface="Arial" panose="020B0604020202020204" pitchFamily="34" charset="0"/>
                <a:cs typeface="Arial" panose="020B0604020202020204" pitchFamily="34" charset="0"/>
              </a:rPr>
              <a:t>Referencias </a:t>
            </a:r>
          </a:p>
        </p:txBody>
      </p:sp>
      <p:sp>
        <p:nvSpPr>
          <p:cNvPr id="4" name="Rectangle 1">
            <a:extLst>
              <a:ext uri="{FF2B5EF4-FFF2-40B4-BE49-F238E27FC236}">
                <a16:creationId xmlns:a16="http://schemas.microsoft.com/office/drawing/2014/main" id="{8FE1C731-2A4D-41F4-BAFD-7107A19D4E56}"/>
              </a:ext>
            </a:extLst>
          </p:cNvPr>
          <p:cNvSpPr>
            <a:spLocks noGrp="1" noChangeArrowheads="1"/>
          </p:cNvSpPr>
          <p:nvPr>
            <p:ph sz="quarter" idx="13"/>
          </p:nvPr>
        </p:nvSpPr>
        <p:spPr bwMode="auto">
          <a:xfrm>
            <a:off x="2568388" y="2059394"/>
            <a:ext cx="7055224"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1" u="none" strike="noStrike" cap="none" normalizeH="0" baseline="0" dirty="0">
                <a:ln>
                  <a:noFill/>
                </a:ln>
                <a:effectLst/>
                <a:latin typeface="Arial" panose="020B0604020202020204" pitchFamily="34" charset="0"/>
                <a:cs typeface="Arial" panose="020B0604020202020204" pitchFamily="34" charset="0"/>
              </a:rPr>
              <a:t> E-R con UML. | MarcoTeorico.com</a:t>
            </a:r>
            <a:r>
              <a:rPr kumimoji="0" lang="es-MX" altLang="es-MX" sz="1600" b="0" i="0" u="none" strike="noStrike" cap="none" normalizeH="0" baseline="0" dirty="0">
                <a:ln>
                  <a:noFill/>
                </a:ln>
                <a:effectLst/>
                <a:latin typeface="Arial" panose="020B0604020202020204" pitchFamily="34" charset="0"/>
                <a:cs typeface="Arial" panose="020B0604020202020204" pitchFamily="34" charset="0"/>
              </a:rPr>
              <a:t>. (s. f.). MarcoTeorico.com. </a:t>
            </a:r>
            <a:r>
              <a:rPr kumimoji="0" lang="es-MX" altLang="es-MX" sz="1600" b="0" i="0" u="none" strike="noStrike" cap="none" normalizeH="0" baseline="0" dirty="0">
                <a:ln>
                  <a:noFill/>
                </a:ln>
                <a:effectLst/>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https://www.marcoteorico.com/curso/31/fundamentos-de-bases-de-datos/421/la-notacion-e-r-con-uml-</a:t>
            </a: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indent="0" algn="ctr" eaLnBrk="0" fontAlgn="base" hangingPunct="0">
              <a:lnSpc>
                <a:spcPct val="100000"/>
              </a:lnSpc>
              <a:spcBef>
                <a:spcPct val="0"/>
              </a:spcBef>
              <a:spcAft>
                <a:spcPct val="0"/>
              </a:spcAft>
              <a:buClrTx/>
              <a:buNone/>
            </a:pPr>
            <a:r>
              <a:rPr kumimoji="0" lang="es-MX" altLang="es-MX" sz="1600" b="0" i="0" u="none" strike="noStrike" cap="none" normalizeH="0" baseline="0" dirty="0">
                <a:ln>
                  <a:noFill/>
                </a:ln>
                <a:effectLst/>
                <a:latin typeface="Arial" panose="020B0604020202020204" pitchFamily="34" charset="0"/>
                <a:cs typeface="Arial" panose="020B0604020202020204" pitchFamily="34" charset="0"/>
              </a:rPr>
              <a:t>Corvo, H. S. (2024, 14 febrero). </a:t>
            </a:r>
            <a:r>
              <a:rPr kumimoji="0" lang="es-MX" altLang="es-MX" sz="1600" b="0" i="1" u="none" strike="noStrike" cap="none" normalizeH="0" baseline="0" dirty="0">
                <a:ln>
                  <a:noFill/>
                </a:ln>
                <a:effectLst/>
                <a:latin typeface="Arial" panose="020B0604020202020204" pitchFamily="34" charset="0"/>
                <a:cs typeface="Arial" panose="020B0604020202020204" pitchFamily="34" charset="0"/>
              </a:rPr>
              <a:t>Modelo de entidad relación</a:t>
            </a:r>
            <a:r>
              <a:rPr kumimoji="0" lang="es-MX" altLang="es-MX" sz="1600" b="0" i="0" u="none" strike="noStrike" cap="none" normalizeH="0" baseline="0" dirty="0">
                <a:ln>
                  <a:noFill/>
                </a:ln>
                <a:effectLst/>
                <a:latin typeface="Arial" panose="020B0604020202020204" pitchFamily="34" charset="0"/>
                <a:cs typeface="Arial" panose="020B0604020202020204" pitchFamily="34" charset="0"/>
              </a:rPr>
              <a:t>. </a:t>
            </a:r>
            <a:r>
              <a:rPr kumimoji="0" lang="es-MX" altLang="es-MX" sz="1600" b="0" i="0" u="none" strike="noStrike" cap="none" normalizeH="0" baseline="0" dirty="0" err="1">
                <a:ln>
                  <a:noFill/>
                </a:ln>
                <a:effectLst/>
                <a:latin typeface="Arial" panose="020B0604020202020204" pitchFamily="34" charset="0"/>
                <a:cs typeface="Arial" panose="020B0604020202020204" pitchFamily="34" charset="0"/>
              </a:rPr>
              <a:t>Lifeder</a:t>
            </a:r>
            <a:r>
              <a:rPr kumimoji="0" lang="es-MX" altLang="es-MX" sz="1600" b="0" i="0" u="none" strike="noStrike" cap="none" normalizeH="0" baseline="0" dirty="0">
                <a:ln>
                  <a:noFill/>
                </a:ln>
                <a:effectLst/>
                <a:latin typeface="Arial" panose="020B0604020202020204" pitchFamily="34" charset="0"/>
                <a:cs typeface="Arial" panose="020B0604020202020204" pitchFamily="34" charset="0"/>
              </a:rPr>
              <a:t>. </a:t>
            </a:r>
            <a:r>
              <a:rPr kumimoji="0" lang="es-MX" altLang="es-MX" sz="1600" b="0" i="0" u="none" strike="noStrike" cap="none" normalizeH="0" baseline="0" dirty="0">
                <a:ln>
                  <a:noFill/>
                </a:ln>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https://www.lifeder.com/modelo-entidad-relacion/</a:t>
            </a: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indent="0" algn="ctr" eaLnBrk="0" fontAlgn="base" hangingPunct="0">
              <a:lnSpc>
                <a:spcPct val="100000"/>
              </a:lnSpc>
              <a:spcBef>
                <a:spcPct val="0"/>
              </a:spcBef>
              <a:spcAft>
                <a:spcPct val="0"/>
              </a:spcAft>
              <a:buClrTx/>
              <a:buNone/>
            </a:pPr>
            <a:endParaRPr kumimoji="0" lang="es-MX" altLang="es-MX"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6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0568688"/>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172</TotalTime>
  <Words>1738</Words>
  <Application>Microsoft Office PowerPoint</Application>
  <PresentationFormat>Panorámica</PresentationFormat>
  <Paragraphs>53</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Arial Black</vt:lpstr>
      <vt:lpstr>Tw Cen MT</vt:lpstr>
      <vt:lpstr>Gota</vt:lpstr>
      <vt:lpstr>Presentación de PowerPoint</vt:lpstr>
      <vt:lpstr>INTRODUCCION </vt:lpstr>
      <vt:lpstr>JUSTIFICACION</vt:lpstr>
      <vt:lpstr>Presentación de PowerPoint</vt:lpstr>
      <vt:lpstr>2.1 El Proceso de Diseño</vt:lpstr>
      <vt:lpstr>2.2 Modelo Entidad-Relación</vt:lpstr>
      <vt:lpstr>2.3 Diseño con Diagramas E-R</vt:lpstr>
      <vt:lpstr>2.4 Modelo E-R Extendido</vt:lpstr>
      <vt:lpstr>2.5 La Notación E-R con UML</vt:lpstr>
      <vt:lpstr>conclusión</vt:lpstr>
      <vt:lpstr>Referencias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17</cp:revision>
  <dcterms:created xsi:type="dcterms:W3CDTF">2026-05-05T12:16:48Z</dcterms:created>
  <dcterms:modified xsi:type="dcterms:W3CDTF">2026-06-02T11:29:30Z</dcterms:modified>
</cp:coreProperties>
</file>