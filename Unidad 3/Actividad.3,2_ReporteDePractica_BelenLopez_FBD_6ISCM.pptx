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77" r:id="rId5"/>
    <p:sldId id="278" r:id="rId6"/>
    <p:sldId id="279" r:id="rId7"/>
    <p:sldId id="284" r:id="rId8"/>
    <p:sldId id="285" r:id="rId9"/>
    <p:sldId id="286" r:id="rId10"/>
    <p:sldId id="287" r:id="rId11"/>
    <p:sldId id="288" r:id="rId12"/>
    <p:sldId id="289" r:id="rId13"/>
    <p:sldId id="282" r:id="rId14"/>
    <p:sldId id="283"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84A96757-7141-4220-9764-81AAB9E5A4B0}" type="datetimeFigureOut">
              <a:rPr lang="es-MX" smtClean="0"/>
              <a:t>07/06/2026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34296237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4A96757-7141-4220-9764-81AAB9E5A4B0}" type="datetimeFigureOut">
              <a:rPr lang="es-MX" smtClean="0"/>
              <a:t>07/06/2026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5641485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4A96757-7141-4220-9764-81AAB9E5A4B0}" type="datetimeFigureOut">
              <a:rPr lang="es-MX" smtClean="0"/>
              <a:t>07/06/2026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1426097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84A96757-7141-4220-9764-81AAB9E5A4B0}" type="datetimeFigureOut">
              <a:rPr lang="es-MX" smtClean="0"/>
              <a:t>07/06/2026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25313809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Content Placeholder 3"/>
          <p:cNvSpPr>
            <a:spLocks noGrp="1"/>
          </p:cNvSpPr>
          <p:nvPr>
            <p:ph sz="quarter" idx="13"/>
          </p:nvPr>
        </p:nvSpPr>
        <p:spPr>
          <a:xfrm>
            <a:off x="913774" y="3051012"/>
            <a:ext cx="5106027" cy="27401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3" name="Content Placeholder 5"/>
          <p:cNvSpPr>
            <a:spLocks noGrp="1"/>
          </p:cNvSpPr>
          <p:nvPr>
            <p:ph sz="quarter" idx="14"/>
          </p:nvPr>
        </p:nvSpPr>
        <p:spPr>
          <a:xfrm>
            <a:off x="6172200" y="3051012"/>
            <a:ext cx="5105401" cy="27401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84A96757-7141-4220-9764-81AAB9E5A4B0}" type="datetimeFigureOut">
              <a:rPr lang="es-MX" smtClean="0"/>
              <a:t>07/06/2026</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20249734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84A96757-7141-4220-9764-81AAB9E5A4B0}" type="datetimeFigureOut">
              <a:rPr lang="es-MX" smtClean="0"/>
              <a:t>07/06/2026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27354873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84A96757-7141-4220-9764-81AAB9E5A4B0}" type="datetimeFigureOut">
              <a:rPr lang="es-MX" smtClean="0"/>
              <a:t>07/06/2026</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30336490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s-ES"/>
              <a:t>Haga clic para modificar el estilo de título del patrón</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4A96757-7141-4220-9764-81AAB9E5A4B0}" type="datetimeFigureOut">
              <a:rPr lang="es-MX" smtClean="0"/>
              <a:t>07/06/2026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39856593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4A96757-7141-4220-9764-81AAB9E5A4B0}" type="datetimeFigureOut">
              <a:rPr lang="es-MX" smtClean="0"/>
              <a:t>07/06/2026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17268750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4A96757-7141-4220-9764-81AAB9E5A4B0}" type="datetimeFigureOut">
              <a:rPr lang="es-MX" smtClean="0"/>
              <a:t>07/06/2026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39673423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4A96757-7141-4220-9764-81AAB9E5A4B0}" type="datetimeFigureOut">
              <a:rPr lang="es-MX" smtClean="0"/>
              <a:t>07/06/2026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31419290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4A96757-7141-4220-9764-81AAB9E5A4B0}" type="datetimeFigureOut">
              <a:rPr lang="es-MX" smtClean="0"/>
              <a:t>07/06/2026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472C795-96C6-460C-922D-97DFDDCB5C3A}" type="slidenum">
              <a:rPr lang="es-MX" smtClean="0"/>
              <a:t>‹Nº›</a:t>
            </a:fld>
            <a:endParaRPr lang="es-MX"/>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4418330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4A96757-7141-4220-9764-81AAB9E5A4B0}" type="datetimeFigureOut">
              <a:rPr lang="es-MX" smtClean="0"/>
              <a:t>07/06/2026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12916926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84A96757-7141-4220-9764-81AAB9E5A4B0}" type="datetimeFigureOut">
              <a:rPr lang="es-MX" smtClean="0"/>
              <a:t>07/06/2026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6890802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84A96757-7141-4220-9764-81AAB9E5A4B0}" type="datetimeFigureOut">
              <a:rPr lang="es-MX" smtClean="0"/>
              <a:t>07/06/2026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17051299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4A96757-7141-4220-9764-81AAB9E5A4B0}" type="datetimeFigureOut">
              <a:rPr lang="es-MX" smtClean="0"/>
              <a:t>07/06/2026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36258012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s-ES"/>
              <a:t>Haga clic para modificar el estilo de título del patrón</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4A96757-7141-4220-9764-81AAB9E5A4B0}" type="datetimeFigureOut">
              <a:rPr lang="es-MX" smtClean="0"/>
              <a:t>07/06/2026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20895571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mt="8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84A96757-7141-4220-9764-81AAB9E5A4B0}" type="datetimeFigureOut">
              <a:rPr lang="es-MX" smtClean="0"/>
              <a:t>07/06/2026</a:t>
            </a:fld>
            <a:endParaRPr lang="es-MX"/>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s-MX"/>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3472C795-96C6-460C-922D-97DFDDCB5C3A}" type="slidenum">
              <a:rPr lang="es-MX" smtClean="0"/>
              <a:t>‹Nº›</a:t>
            </a:fld>
            <a:endParaRPr lang="es-MX"/>
          </a:p>
        </p:txBody>
      </p:sp>
    </p:spTree>
    <p:extLst>
      <p:ext uri="{BB962C8B-B14F-4D97-AF65-F5344CB8AC3E}">
        <p14:creationId xmlns:p14="http://schemas.microsoft.com/office/powerpoint/2010/main" val="1957354193"/>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DFDB4996-25A1-4C8B-9C3A-C6F4190D51FF}"/>
              </a:ext>
            </a:extLst>
          </p:cNvPr>
          <p:cNvPicPr>
            <a:picLocks noChangeAspect="1"/>
          </p:cNvPicPr>
          <p:nvPr/>
        </p:nvPicPr>
        <p:blipFill rotWithShape="1">
          <a:blip r:embed="rId2"/>
          <a:srcRect l="6551" t="37365" r="5073"/>
          <a:stretch/>
        </p:blipFill>
        <p:spPr>
          <a:xfrm>
            <a:off x="1290918" y="751864"/>
            <a:ext cx="10040471" cy="726922"/>
          </a:xfrm>
          <a:prstGeom prst="rect">
            <a:avLst/>
          </a:prstGeom>
        </p:spPr>
      </p:pic>
      <p:sp>
        <p:nvSpPr>
          <p:cNvPr id="5" name="CuadroTexto 4">
            <a:extLst>
              <a:ext uri="{FF2B5EF4-FFF2-40B4-BE49-F238E27FC236}">
                <a16:creationId xmlns:a16="http://schemas.microsoft.com/office/drawing/2014/main" id="{74CA5DC0-9F7F-45E1-A2A4-76C139FCCAC5}"/>
              </a:ext>
            </a:extLst>
          </p:cNvPr>
          <p:cNvSpPr txBox="1"/>
          <p:nvPr/>
        </p:nvSpPr>
        <p:spPr>
          <a:xfrm>
            <a:off x="2052918" y="1605776"/>
            <a:ext cx="7440705" cy="3646447"/>
          </a:xfrm>
          <a:prstGeom prst="rect">
            <a:avLst/>
          </a:prstGeom>
          <a:noFill/>
        </p:spPr>
        <p:txBody>
          <a:bodyPr wrap="square" rtlCol="0">
            <a:spAutoFit/>
          </a:bodyPr>
          <a:lstStyle/>
          <a:p>
            <a:pPr marL="12700" marR="1219200" indent="-12700" algn="ctr">
              <a:lnSpc>
                <a:spcPct val="107000"/>
              </a:lnSpc>
              <a:spcAft>
                <a:spcPts val="1115"/>
              </a:spcAft>
            </a:pPr>
            <a:r>
              <a:rPr lang="es-MX" sz="1100" b="1" dirty="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Instituto Tecnológico de Frontera Comalapa</a:t>
            </a:r>
          </a:p>
          <a:p>
            <a:pPr marL="12700" marR="1219200" indent="-12700" algn="ctr">
              <a:lnSpc>
                <a:spcPct val="107000"/>
              </a:lnSpc>
              <a:spcAft>
                <a:spcPts val="111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           Modalidad :</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Mixta </a:t>
            </a:r>
          </a:p>
          <a:p>
            <a:pPr marL="96520" marR="89535" indent="-6350" algn="ctr">
              <a:lnSpc>
                <a:spcPct val="107000"/>
              </a:lnSpc>
              <a:spcAft>
                <a:spcPts val="80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Materia: </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s-MX" sz="1400" dirty="0">
                <a:solidFill>
                  <a:srgbClr val="000000"/>
                </a:solidFill>
                <a:latin typeface="Arial" panose="020B0604020202020204" pitchFamily="34" charset="0"/>
                <a:ea typeface="Arial" panose="020B0604020202020204" pitchFamily="34" charset="0"/>
                <a:cs typeface="Arial" panose="020B0604020202020204" pitchFamily="34" charset="0"/>
              </a:rPr>
              <a:t>Fundamentos </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 de base de datos  </a:t>
            </a:r>
          </a:p>
          <a:p>
            <a:pPr marL="96520" marR="89535" indent="-6350" algn="ctr">
              <a:lnSpc>
                <a:spcPct val="107000"/>
              </a:lnSpc>
              <a:spcAft>
                <a:spcPts val="80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Semestre: </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Sexto semestre </a:t>
            </a:r>
          </a:p>
          <a:p>
            <a:pPr marL="96520" marR="89535" indent="-6350" algn="ctr">
              <a:lnSpc>
                <a:spcPct val="107000"/>
              </a:lnSpc>
              <a:spcAft>
                <a:spcPts val="80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Especialidad:</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 Ingeniería en Sistemas Computacionales.  </a:t>
            </a:r>
          </a:p>
          <a:p>
            <a:pPr marL="96520" marR="89535" indent="-6350" algn="ctr">
              <a:lnSpc>
                <a:spcPct val="107000"/>
              </a:lnSpc>
              <a:spcAft>
                <a:spcPts val="80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Numero de control: </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 231260010  </a:t>
            </a:r>
            <a:endParaRPr lang="es-MX" sz="1400" dirty="0">
              <a:solidFill>
                <a:srgbClr val="000000"/>
              </a:solidFill>
              <a:latin typeface="Arial" panose="020B0604020202020204" pitchFamily="34" charset="0"/>
              <a:ea typeface="Arial" panose="020B0604020202020204" pitchFamily="34" charset="0"/>
              <a:cs typeface="Arial" panose="020B0604020202020204" pitchFamily="34" charset="0"/>
            </a:endParaRPr>
          </a:p>
          <a:p>
            <a:pPr marL="96520" marR="89535" indent="-6350" algn="ctr">
              <a:lnSpc>
                <a:spcPct val="107000"/>
              </a:lnSpc>
              <a:spcAft>
                <a:spcPts val="80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Nombre del alumno:</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  Simone Belén López Ramírez</a:t>
            </a: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 </a:t>
            </a:r>
            <a:endParaRPr lang="es-MX" sz="1400" dirty="0">
              <a:solidFill>
                <a:srgbClr val="000000"/>
              </a:solidFill>
              <a:latin typeface="Arial" panose="020B0604020202020204" pitchFamily="34" charset="0"/>
              <a:ea typeface="Arial" panose="020B0604020202020204" pitchFamily="34" charset="0"/>
              <a:cs typeface="Arial" panose="020B0604020202020204" pitchFamily="34" charset="0"/>
            </a:endParaRPr>
          </a:p>
          <a:p>
            <a:pPr marL="96520" marR="89535" indent="-6350" algn="ctr">
              <a:lnSpc>
                <a:spcPct val="107000"/>
              </a:lnSpc>
              <a:spcAft>
                <a:spcPts val="80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Nombre del docente:</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Ing.Francisco Javier Mingo Velásquez</a:t>
            </a:r>
          </a:p>
          <a:p>
            <a:pPr marL="12700" marR="881380" indent="-12700" algn="ctr">
              <a:lnSpc>
                <a:spcPct val="157000"/>
              </a:lnSpc>
              <a:spcAft>
                <a:spcPts val="1390"/>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                     Nombre del trabajo:</a:t>
            </a:r>
            <a:r>
              <a:rPr lang="es-MX" sz="1400" b="1" dirty="0">
                <a:solidFill>
                  <a:srgbClr val="000000"/>
                </a:solidFill>
                <a:latin typeface="Arial" panose="020B0604020202020204" pitchFamily="34" charset="0"/>
                <a:ea typeface="Arial" panose="020B0604020202020204" pitchFamily="34" charset="0"/>
                <a:cs typeface="Arial" panose="020B0604020202020204" pitchFamily="34" charset="0"/>
              </a:rPr>
              <a:t>3.2</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 reporte de practica </a:t>
            </a:r>
          </a:p>
          <a:p>
            <a:pPr marL="12700" marR="881380" indent="-12700" algn="ctr">
              <a:lnSpc>
                <a:spcPct val="157000"/>
              </a:lnSpc>
              <a:spcAft>
                <a:spcPts val="1390"/>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Fecha de entrega</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 Frontera Comalapa , Chiapas a 13/05/2026 </a:t>
            </a:r>
            <a:endParaRPr lang="es-MX"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514017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490D377-64BE-4729-91D3-D9F88A4E75B4}"/>
              </a:ext>
            </a:extLst>
          </p:cNvPr>
          <p:cNvSpPr>
            <a:spLocks noGrp="1"/>
          </p:cNvSpPr>
          <p:nvPr>
            <p:ph type="title"/>
          </p:nvPr>
        </p:nvSpPr>
        <p:spPr>
          <a:xfrm>
            <a:off x="913774" y="161317"/>
            <a:ext cx="10364451" cy="672401"/>
          </a:xfrm>
        </p:spPr>
        <p:txBody>
          <a:bodyPr/>
          <a:lstStyle/>
          <a:p>
            <a:r>
              <a:rPr lang="es-MX" b="1" dirty="0">
                <a:latin typeface="Arial" panose="020B0604020202020204" pitchFamily="34" charset="0"/>
                <a:cs typeface="Arial" panose="020B0604020202020204" pitchFamily="34" charset="0"/>
              </a:rPr>
              <a:t>INTRODUCCION </a:t>
            </a:r>
          </a:p>
        </p:txBody>
      </p:sp>
      <p:sp>
        <p:nvSpPr>
          <p:cNvPr id="3" name="Marcador de contenido 2">
            <a:extLst>
              <a:ext uri="{FF2B5EF4-FFF2-40B4-BE49-F238E27FC236}">
                <a16:creationId xmlns:a16="http://schemas.microsoft.com/office/drawing/2014/main" id="{BEAB286D-EC1F-443B-92B2-DA25E0DC0439}"/>
              </a:ext>
            </a:extLst>
          </p:cNvPr>
          <p:cNvSpPr>
            <a:spLocks noGrp="1"/>
          </p:cNvSpPr>
          <p:nvPr>
            <p:ph sz="quarter" idx="13"/>
          </p:nvPr>
        </p:nvSpPr>
        <p:spPr>
          <a:xfrm>
            <a:off x="1792943" y="1542339"/>
            <a:ext cx="8292352" cy="3424107"/>
          </a:xfrm>
        </p:spPr>
        <p:txBody>
          <a:bodyPr>
            <a:normAutofit/>
          </a:bodyPr>
          <a:lstStyle/>
          <a:p>
            <a:pPr marL="0" indent="0" algn="just">
              <a:buNone/>
            </a:pPr>
            <a:r>
              <a:rPr lang="es-MX" sz="1400" cap="none" dirty="0">
                <a:latin typeface="Arial" panose="020B0604020202020204" pitchFamily="34" charset="0"/>
                <a:cs typeface="Arial" panose="020B0604020202020204" pitchFamily="34" charset="0"/>
              </a:rPr>
              <a:t>En esta práctica se creó una base de datos para una tienda de ropa usando PostgreSQL y pgadmin. esta base de datos permite guardar de forma ordenada la información de los clientes, prendas, empleados y ventas. también se agregaron registros de prueba para verificar que las tablas funcionaran correctamente y así comprender mejor cómo se administra la información de un negocio mediante una base de datos.</a:t>
            </a:r>
          </a:p>
        </p:txBody>
      </p:sp>
    </p:spTree>
    <p:extLst>
      <p:ext uri="{BB962C8B-B14F-4D97-AF65-F5344CB8AC3E}">
        <p14:creationId xmlns:p14="http://schemas.microsoft.com/office/powerpoint/2010/main" val="1297209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83207C-9490-46DC-B7B8-4A79CCBA23DC}"/>
              </a:ext>
            </a:extLst>
          </p:cNvPr>
          <p:cNvSpPr>
            <a:spLocks noGrp="1"/>
          </p:cNvSpPr>
          <p:nvPr>
            <p:ph type="title"/>
          </p:nvPr>
        </p:nvSpPr>
        <p:spPr>
          <a:xfrm>
            <a:off x="1864659" y="0"/>
            <a:ext cx="7737167" cy="1264435"/>
          </a:xfrm>
        </p:spPr>
        <p:txBody>
          <a:bodyPr/>
          <a:lstStyle/>
          <a:p>
            <a:r>
              <a:rPr lang="es-MX" b="1" dirty="0">
                <a:latin typeface="Arial" panose="020B0604020202020204" pitchFamily="34" charset="0"/>
                <a:cs typeface="Arial" panose="020B0604020202020204" pitchFamily="34" charset="0"/>
              </a:rPr>
              <a:t>JUSTIFICACION</a:t>
            </a:r>
          </a:p>
        </p:txBody>
      </p:sp>
      <p:sp>
        <p:nvSpPr>
          <p:cNvPr id="3" name="Marcador de contenido 2">
            <a:extLst>
              <a:ext uri="{FF2B5EF4-FFF2-40B4-BE49-F238E27FC236}">
                <a16:creationId xmlns:a16="http://schemas.microsoft.com/office/drawing/2014/main" id="{B79832BA-E3DF-4F8B-ACA7-A7B97C74E4D4}"/>
              </a:ext>
            </a:extLst>
          </p:cNvPr>
          <p:cNvSpPr>
            <a:spLocks noGrp="1"/>
          </p:cNvSpPr>
          <p:nvPr>
            <p:ph sz="quarter" idx="13"/>
          </p:nvPr>
        </p:nvSpPr>
        <p:spPr>
          <a:xfrm>
            <a:off x="1667435" y="1716946"/>
            <a:ext cx="8472273" cy="3424107"/>
          </a:xfrm>
        </p:spPr>
        <p:txBody>
          <a:bodyPr>
            <a:normAutofit/>
          </a:bodyPr>
          <a:lstStyle/>
          <a:p>
            <a:pPr marL="0" indent="0" algn="just">
              <a:buNone/>
            </a:pPr>
            <a:r>
              <a:rPr lang="es-MX" sz="1400" cap="none" dirty="0">
                <a:latin typeface="Arial" panose="020B0604020202020204" pitchFamily="34" charset="0"/>
                <a:cs typeface="Arial" panose="020B0604020202020204" pitchFamily="34" charset="0"/>
              </a:rPr>
              <a:t>Al realizar este reporte de practica fue importante porque permitió aplicar lo aprendido sobre la creación y administración de bases de datos. al diseñar tablas y registrar información de una tienda de ropa, como clientes, prendas, empleados y ventas, se comprendió mejor la importancia de tener los datos bien organizados para poder consultarlos, modificarlos y gestionarlos de manera más fácil dentro de un sistema informático.</a:t>
            </a:r>
          </a:p>
        </p:txBody>
      </p:sp>
    </p:spTree>
    <p:extLst>
      <p:ext uri="{BB962C8B-B14F-4D97-AF65-F5344CB8AC3E}">
        <p14:creationId xmlns:p14="http://schemas.microsoft.com/office/powerpoint/2010/main" val="34654152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1A98366A-FD4D-4C58-9BD6-D5EE66252B58}"/>
              </a:ext>
            </a:extLst>
          </p:cNvPr>
          <p:cNvSpPr txBox="1"/>
          <p:nvPr/>
        </p:nvSpPr>
        <p:spPr>
          <a:xfrm>
            <a:off x="842684" y="4428564"/>
            <a:ext cx="4930587" cy="2031325"/>
          </a:xfrm>
          <a:prstGeom prst="rect">
            <a:avLst/>
          </a:prstGeom>
          <a:noFill/>
        </p:spPr>
        <p:txBody>
          <a:bodyPr wrap="square" rtlCol="0">
            <a:spAutoFit/>
          </a:bodyPr>
          <a:lstStyle/>
          <a:p>
            <a:pPr algn="just"/>
            <a:r>
              <a:rPr lang="es-MX" sz="1400" dirty="0">
                <a:latin typeface="Arial" panose="020B0604020202020204" pitchFamily="34" charset="0"/>
                <a:cs typeface="Arial" panose="020B0604020202020204" pitchFamily="34" charset="0"/>
              </a:rPr>
              <a:t>Para comenzar, se creó una base de datos llamada Tienda de ropa, la cual servirá como contenedor principal para guardar todas las tablas realizadas durante la práctica. Esta base de datos fue diseñada para administrar la información de una tienda de ropa, permitiendo almacenar registros de clientes, empleados, prendas, ventas e inventario. La creación de esta base de datos es el primer paso para organizar la información de manera eficiente y facilitar su consulta dentro del sistema.</a:t>
            </a:r>
          </a:p>
        </p:txBody>
      </p:sp>
      <p:pic>
        <p:nvPicPr>
          <p:cNvPr id="7" name="Imagen 6">
            <a:extLst>
              <a:ext uri="{FF2B5EF4-FFF2-40B4-BE49-F238E27FC236}">
                <a16:creationId xmlns:a16="http://schemas.microsoft.com/office/drawing/2014/main" id="{AC536E3D-4D67-4BF6-B6C2-514A78E57FA6}"/>
              </a:ext>
            </a:extLst>
          </p:cNvPr>
          <p:cNvPicPr>
            <a:picLocks noChangeAspect="1"/>
          </p:cNvPicPr>
          <p:nvPr/>
        </p:nvPicPr>
        <p:blipFill>
          <a:blip r:embed="rId2"/>
          <a:stretch>
            <a:fillRect/>
          </a:stretch>
        </p:blipFill>
        <p:spPr>
          <a:xfrm>
            <a:off x="1414540" y="305906"/>
            <a:ext cx="4681460" cy="3578782"/>
          </a:xfrm>
          <a:prstGeom prst="rect">
            <a:avLst/>
          </a:prstGeom>
        </p:spPr>
      </p:pic>
      <p:pic>
        <p:nvPicPr>
          <p:cNvPr id="9" name="Imagen 8">
            <a:extLst>
              <a:ext uri="{FF2B5EF4-FFF2-40B4-BE49-F238E27FC236}">
                <a16:creationId xmlns:a16="http://schemas.microsoft.com/office/drawing/2014/main" id="{336DFEB5-0619-4A66-8750-C9F8359D0C0B}"/>
              </a:ext>
            </a:extLst>
          </p:cNvPr>
          <p:cNvPicPr>
            <a:picLocks noChangeAspect="1"/>
          </p:cNvPicPr>
          <p:nvPr/>
        </p:nvPicPr>
        <p:blipFill>
          <a:blip r:embed="rId3"/>
          <a:stretch>
            <a:fillRect/>
          </a:stretch>
        </p:blipFill>
        <p:spPr>
          <a:xfrm>
            <a:off x="6739134" y="691388"/>
            <a:ext cx="3400600" cy="2257999"/>
          </a:xfrm>
          <a:prstGeom prst="rect">
            <a:avLst/>
          </a:prstGeom>
        </p:spPr>
      </p:pic>
    </p:spTree>
    <p:extLst>
      <p:ext uri="{BB962C8B-B14F-4D97-AF65-F5344CB8AC3E}">
        <p14:creationId xmlns:p14="http://schemas.microsoft.com/office/powerpoint/2010/main" val="31750341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C4EF477C-CA41-40AB-A08A-36F4B77E36C9}"/>
              </a:ext>
            </a:extLst>
          </p:cNvPr>
          <p:cNvSpPr>
            <a:spLocks noGrp="1"/>
          </p:cNvSpPr>
          <p:nvPr>
            <p:ph sz="quarter" idx="13"/>
          </p:nvPr>
        </p:nvSpPr>
        <p:spPr>
          <a:xfrm>
            <a:off x="3003177" y="4061012"/>
            <a:ext cx="5082987" cy="1344705"/>
          </a:xfrm>
        </p:spPr>
        <p:txBody>
          <a:bodyPr>
            <a:normAutofit fontScale="70000" lnSpcReduction="20000"/>
          </a:bodyPr>
          <a:lstStyle/>
          <a:p>
            <a:pPr marL="0" indent="0" algn="just">
              <a:buNone/>
            </a:pPr>
            <a:r>
              <a:rPr lang="es-MX" cap="none" dirty="0">
                <a:latin typeface="Arial" panose="020B0604020202020204" pitchFamily="34" charset="0"/>
                <a:cs typeface="Arial" panose="020B0604020202020204" pitchFamily="34" charset="0"/>
              </a:rPr>
              <a:t>Se elaboró la tabla clientes con el objetivo de almacenar la información de las personas que realizan compras dentro de la tienda de ropa. esta tabla incluye datos como el identificador del cliente, nombre, apellido, teléfono, correo electrónico y dirección</a:t>
            </a:r>
          </a:p>
        </p:txBody>
      </p:sp>
      <p:pic>
        <p:nvPicPr>
          <p:cNvPr id="7" name="Imagen 6">
            <a:extLst>
              <a:ext uri="{FF2B5EF4-FFF2-40B4-BE49-F238E27FC236}">
                <a16:creationId xmlns:a16="http://schemas.microsoft.com/office/drawing/2014/main" id="{4D8DEF59-B25E-49F8-9006-3F1A328B902B}"/>
              </a:ext>
            </a:extLst>
          </p:cNvPr>
          <p:cNvPicPr>
            <a:picLocks noChangeAspect="1"/>
          </p:cNvPicPr>
          <p:nvPr/>
        </p:nvPicPr>
        <p:blipFill>
          <a:blip r:embed="rId2"/>
          <a:stretch>
            <a:fillRect/>
          </a:stretch>
        </p:blipFill>
        <p:spPr>
          <a:xfrm>
            <a:off x="4600561" y="943084"/>
            <a:ext cx="4366117" cy="2736729"/>
          </a:xfrm>
          <a:prstGeom prst="rect">
            <a:avLst/>
          </a:prstGeom>
        </p:spPr>
      </p:pic>
      <p:pic>
        <p:nvPicPr>
          <p:cNvPr id="9" name="Imagen 8">
            <a:extLst>
              <a:ext uri="{FF2B5EF4-FFF2-40B4-BE49-F238E27FC236}">
                <a16:creationId xmlns:a16="http://schemas.microsoft.com/office/drawing/2014/main" id="{2CE56261-17A7-4836-B4A6-A8E39D853097}"/>
              </a:ext>
            </a:extLst>
          </p:cNvPr>
          <p:cNvPicPr>
            <a:picLocks noChangeAspect="1"/>
          </p:cNvPicPr>
          <p:nvPr/>
        </p:nvPicPr>
        <p:blipFill>
          <a:blip r:embed="rId3"/>
          <a:stretch>
            <a:fillRect/>
          </a:stretch>
        </p:blipFill>
        <p:spPr>
          <a:xfrm>
            <a:off x="195718" y="943084"/>
            <a:ext cx="4273846" cy="2736729"/>
          </a:xfrm>
          <a:prstGeom prst="rect">
            <a:avLst/>
          </a:prstGeom>
        </p:spPr>
      </p:pic>
      <p:sp>
        <p:nvSpPr>
          <p:cNvPr id="10" name="Rectángulo 9">
            <a:extLst>
              <a:ext uri="{FF2B5EF4-FFF2-40B4-BE49-F238E27FC236}">
                <a16:creationId xmlns:a16="http://schemas.microsoft.com/office/drawing/2014/main" id="{D0A2427F-610D-40CB-B6D7-90EF7C393B17}"/>
              </a:ext>
            </a:extLst>
          </p:cNvPr>
          <p:cNvSpPr/>
          <p:nvPr/>
        </p:nvSpPr>
        <p:spPr>
          <a:xfrm>
            <a:off x="4150143" y="38556"/>
            <a:ext cx="3142014" cy="1477328"/>
          </a:xfrm>
          <a:prstGeom prst="rect">
            <a:avLst/>
          </a:prstGeom>
          <a:noFill/>
        </p:spPr>
        <p:txBody>
          <a:bodyPr wrap="none" lIns="91440" tIns="45720" rIns="91440" bIns="45720">
            <a:spAutoFit/>
          </a:bodyPr>
          <a:lstStyle/>
          <a:p>
            <a:pPr algn="ctr"/>
            <a:r>
              <a:rPr lang="es-ES" sz="3600" b="1" cap="none" spc="0" dirty="0">
                <a:ln w="0"/>
                <a:solidFill>
                  <a:schemeClr val="tx1"/>
                </a:solidFill>
                <a:effectLst>
                  <a:outerShdw blurRad="38100" dist="19050" dir="2700000" algn="tl" rotWithShape="0">
                    <a:schemeClr val="dk1">
                      <a:alpha val="40000"/>
                    </a:schemeClr>
                  </a:outerShdw>
                </a:effectLst>
              </a:rPr>
              <a:t>TABLA CLIENTE</a:t>
            </a:r>
          </a:p>
          <a:p>
            <a:pPr algn="ctr"/>
            <a:endParaRPr lang="es-ES" sz="5400" b="0" cap="none" spc="0" dirty="0">
              <a:ln w="0"/>
              <a:solidFill>
                <a:schemeClr val="tx1"/>
              </a:solidFill>
              <a:effectLst>
                <a:outerShdw blurRad="38100" dist="19050" dir="2700000" algn="tl" rotWithShape="0">
                  <a:schemeClr val="dk1">
                    <a:alpha val="40000"/>
                  </a:schemeClr>
                </a:outerShdw>
              </a:effectLst>
            </a:endParaRPr>
          </a:p>
        </p:txBody>
      </p:sp>
      <p:pic>
        <p:nvPicPr>
          <p:cNvPr id="12" name="Imagen 11">
            <a:extLst>
              <a:ext uri="{FF2B5EF4-FFF2-40B4-BE49-F238E27FC236}">
                <a16:creationId xmlns:a16="http://schemas.microsoft.com/office/drawing/2014/main" id="{BD686ED1-2205-4922-95C2-326A37EB40BE}"/>
              </a:ext>
            </a:extLst>
          </p:cNvPr>
          <p:cNvPicPr>
            <a:picLocks noChangeAspect="1"/>
          </p:cNvPicPr>
          <p:nvPr/>
        </p:nvPicPr>
        <p:blipFill>
          <a:blip r:embed="rId4"/>
          <a:stretch>
            <a:fillRect/>
          </a:stretch>
        </p:blipFill>
        <p:spPr>
          <a:xfrm>
            <a:off x="9443533" y="1241480"/>
            <a:ext cx="2552749" cy="1940809"/>
          </a:xfrm>
          <a:prstGeom prst="rect">
            <a:avLst/>
          </a:prstGeom>
        </p:spPr>
      </p:pic>
    </p:spTree>
    <p:extLst>
      <p:ext uri="{BB962C8B-B14F-4D97-AF65-F5344CB8AC3E}">
        <p14:creationId xmlns:p14="http://schemas.microsoft.com/office/powerpoint/2010/main" val="6151762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Marcador de contenido 7">
            <a:extLst>
              <a:ext uri="{FF2B5EF4-FFF2-40B4-BE49-F238E27FC236}">
                <a16:creationId xmlns:a16="http://schemas.microsoft.com/office/drawing/2014/main" id="{88A16F61-E45B-4DB3-ABC5-69494F4CFCFD}"/>
              </a:ext>
            </a:extLst>
          </p:cNvPr>
          <p:cNvPicPr>
            <a:picLocks noGrp="1" noChangeAspect="1"/>
          </p:cNvPicPr>
          <p:nvPr>
            <p:ph sz="quarter" idx="13"/>
          </p:nvPr>
        </p:nvPicPr>
        <p:blipFill>
          <a:blip r:embed="rId2"/>
          <a:stretch>
            <a:fillRect/>
          </a:stretch>
        </p:blipFill>
        <p:spPr>
          <a:xfrm>
            <a:off x="2216618" y="539679"/>
            <a:ext cx="7241146" cy="4194056"/>
          </a:xfrm>
        </p:spPr>
      </p:pic>
      <p:sp>
        <p:nvSpPr>
          <p:cNvPr id="6" name="Rectángulo 5">
            <a:extLst>
              <a:ext uri="{FF2B5EF4-FFF2-40B4-BE49-F238E27FC236}">
                <a16:creationId xmlns:a16="http://schemas.microsoft.com/office/drawing/2014/main" id="{E08EB141-19EB-4024-BCC9-C9B6173AD36F}"/>
              </a:ext>
            </a:extLst>
          </p:cNvPr>
          <p:cNvSpPr/>
          <p:nvPr/>
        </p:nvSpPr>
        <p:spPr>
          <a:xfrm>
            <a:off x="3816656" y="170347"/>
            <a:ext cx="3429144" cy="369332"/>
          </a:xfrm>
          <a:prstGeom prst="rect">
            <a:avLst/>
          </a:prstGeom>
          <a:noFill/>
        </p:spPr>
        <p:txBody>
          <a:bodyPr wrap="none" lIns="91440" tIns="45720" rIns="91440" bIns="45720">
            <a:spAutoFit/>
          </a:bodyPr>
          <a:lstStyle/>
          <a:p>
            <a:pPr algn="ctr"/>
            <a:r>
              <a:rPr lang="es-ES" b="1" dirty="0">
                <a:ln w="0"/>
                <a:latin typeface="Arial Black" panose="020B0A04020102020204" pitchFamily="34" charset="0"/>
                <a:cs typeface="Arial" panose="020B0604020202020204" pitchFamily="34" charset="0"/>
              </a:rPr>
              <a:t>INGRESANDO CLIENTES  </a:t>
            </a:r>
            <a:endParaRPr lang="es-ES" b="1" cap="none" spc="0" dirty="0">
              <a:ln w="0"/>
              <a:solidFill>
                <a:schemeClr val="tx1"/>
              </a:solidFill>
              <a:latin typeface="Arial Black" panose="020B0A040201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0307284F-5A69-4E06-BA1B-DE80948E6554}"/>
              </a:ext>
            </a:extLst>
          </p:cNvPr>
          <p:cNvSpPr txBox="1"/>
          <p:nvPr/>
        </p:nvSpPr>
        <p:spPr>
          <a:xfrm>
            <a:off x="457200" y="4933327"/>
            <a:ext cx="6329083" cy="1754326"/>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Después de haber elaborado la tabla Clientes, se agregaron registros utilizando sentencias SQL. Estos datos permiten simular cómo funcionaría una tienda de ropa real, guardando información de los clientes que realizan compras. Además, sirven como base para hacer consultas posteriores y verificar que la tabla funcione correctamente.</a:t>
            </a:r>
          </a:p>
        </p:txBody>
      </p:sp>
    </p:spTree>
    <p:extLst>
      <p:ext uri="{BB962C8B-B14F-4D97-AF65-F5344CB8AC3E}">
        <p14:creationId xmlns:p14="http://schemas.microsoft.com/office/powerpoint/2010/main" val="23633406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366670-32AF-4F29-87AA-64B957AEB2E2}"/>
              </a:ext>
            </a:extLst>
          </p:cNvPr>
          <p:cNvSpPr>
            <a:spLocks noGrp="1"/>
          </p:cNvSpPr>
          <p:nvPr>
            <p:ph type="title"/>
          </p:nvPr>
        </p:nvSpPr>
        <p:spPr>
          <a:xfrm>
            <a:off x="3410758" y="0"/>
            <a:ext cx="5370484" cy="860659"/>
          </a:xfrm>
        </p:spPr>
        <p:txBody>
          <a:bodyPr>
            <a:normAutofit/>
          </a:bodyPr>
          <a:lstStyle/>
          <a:p>
            <a:r>
              <a:rPr lang="es-MX" sz="1800" dirty="0">
                <a:latin typeface="Arial Black" panose="020B0A04020102020204" pitchFamily="34" charset="0"/>
              </a:rPr>
              <a:t>Tabla de prendas </a:t>
            </a:r>
          </a:p>
        </p:txBody>
      </p:sp>
      <p:pic>
        <p:nvPicPr>
          <p:cNvPr id="5" name="Marcador de contenido 4">
            <a:extLst>
              <a:ext uri="{FF2B5EF4-FFF2-40B4-BE49-F238E27FC236}">
                <a16:creationId xmlns:a16="http://schemas.microsoft.com/office/drawing/2014/main" id="{84A8D086-F42D-47C4-A099-DF6F45195FCF}"/>
              </a:ext>
            </a:extLst>
          </p:cNvPr>
          <p:cNvPicPr>
            <a:picLocks noGrp="1" noChangeAspect="1"/>
          </p:cNvPicPr>
          <p:nvPr>
            <p:ph sz="quarter" idx="13"/>
          </p:nvPr>
        </p:nvPicPr>
        <p:blipFill>
          <a:blip r:embed="rId2"/>
          <a:stretch>
            <a:fillRect/>
          </a:stretch>
        </p:blipFill>
        <p:spPr>
          <a:xfrm>
            <a:off x="888145" y="860659"/>
            <a:ext cx="4086095" cy="2509837"/>
          </a:xfrm>
        </p:spPr>
      </p:pic>
      <p:pic>
        <p:nvPicPr>
          <p:cNvPr id="7" name="Imagen 6">
            <a:extLst>
              <a:ext uri="{FF2B5EF4-FFF2-40B4-BE49-F238E27FC236}">
                <a16:creationId xmlns:a16="http://schemas.microsoft.com/office/drawing/2014/main" id="{D1DD2487-75EF-4859-AAD3-BD8E09062577}"/>
              </a:ext>
            </a:extLst>
          </p:cNvPr>
          <p:cNvPicPr>
            <a:picLocks noChangeAspect="1"/>
          </p:cNvPicPr>
          <p:nvPr/>
        </p:nvPicPr>
        <p:blipFill>
          <a:blip r:embed="rId3"/>
          <a:stretch>
            <a:fillRect/>
          </a:stretch>
        </p:blipFill>
        <p:spPr>
          <a:xfrm>
            <a:off x="5151724" y="920128"/>
            <a:ext cx="3951202" cy="2390898"/>
          </a:xfrm>
          <a:prstGeom prst="rect">
            <a:avLst/>
          </a:prstGeom>
        </p:spPr>
      </p:pic>
      <p:sp>
        <p:nvSpPr>
          <p:cNvPr id="8" name="CuadroTexto 7">
            <a:extLst>
              <a:ext uri="{FF2B5EF4-FFF2-40B4-BE49-F238E27FC236}">
                <a16:creationId xmlns:a16="http://schemas.microsoft.com/office/drawing/2014/main" id="{5CA6A7BF-DC76-4295-8E34-8660D40C0A82}"/>
              </a:ext>
            </a:extLst>
          </p:cNvPr>
          <p:cNvSpPr txBox="1"/>
          <p:nvPr/>
        </p:nvSpPr>
        <p:spPr>
          <a:xfrm>
            <a:off x="986118" y="3944471"/>
            <a:ext cx="9287435" cy="1200329"/>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La tabla Prendas fue diseñada para almacenar la información de los productos disponibles en una tienda de ropa. Entre los campos definidos se encuentran el identificador de la prenda, marca, talla, color, precio y stock disponible. Esta tabla permite organizar el inventario de la tienda y conocer qué prendas hay disponibles para la venta.</a:t>
            </a:r>
          </a:p>
        </p:txBody>
      </p:sp>
    </p:spTree>
    <p:extLst>
      <p:ext uri="{BB962C8B-B14F-4D97-AF65-F5344CB8AC3E}">
        <p14:creationId xmlns:p14="http://schemas.microsoft.com/office/powerpoint/2010/main" val="32003602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Marcador de contenido 6">
            <a:extLst>
              <a:ext uri="{FF2B5EF4-FFF2-40B4-BE49-F238E27FC236}">
                <a16:creationId xmlns:a16="http://schemas.microsoft.com/office/drawing/2014/main" id="{A288B18B-5FEE-4FAD-9E19-A54B778F0BFD}"/>
              </a:ext>
            </a:extLst>
          </p:cNvPr>
          <p:cNvPicPr>
            <a:picLocks noGrp="1" noChangeAspect="1"/>
          </p:cNvPicPr>
          <p:nvPr>
            <p:ph sz="quarter" idx="13"/>
          </p:nvPr>
        </p:nvPicPr>
        <p:blipFill>
          <a:blip r:embed="rId2"/>
          <a:stretch>
            <a:fillRect/>
          </a:stretch>
        </p:blipFill>
        <p:spPr>
          <a:xfrm>
            <a:off x="5262282" y="1404335"/>
            <a:ext cx="6507904" cy="2629783"/>
          </a:xfrm>
        </p:spPr>
      </p:pic>
      <p:pic>
        <p:nvPicPr>
          <p:cNvPr id="5" name="Imagen 4">
            <a:extLst>
              <a:ext uri="{FF2B5EF4-FFF2-40B4-BE49-F238E27FC236}">
                <a16:creationId xmlns:a16="http://schemas.microsoft.com/office/drawing/2014/main" id="{6B59DED6-DB5C-4918-ABD9-62C3E8959027}"/>
              </a:ext>
            </a:extLst>
          </p:cNvPr>
          <p:cNvPicPr>
            <a:picLocks noChangeAspect="1"/>
          </p:cNvPicPr>
          <p:nvPr/>
        </p:nvPicPr>
        <p:blipFill>
          <a:blip r:embed="rId3"/>
          <a:stretch>
            <a:fillRect/>
          </a:stretch>
        </p:blipFill>
        <p:spPr>
          <a:xfrm>
            <a:off x="421814" y="1146011"/>
            <a:ext cx="4572000" cy="3212310"/>
          </a:xfrm>
          <a:prstGeom prst="rect">
            <a:avLst/>
          </a:prstGeom>
        </p:spPr>
      </p:pic>
      <p:sp>
        <p:nvSpPr>
          <p:cNvPr id="8" name="Rectángulo 7">
            <a:extLst>
              <a:ext uri="{FF2B5EF4-FFF2-40B4-BE49-F238E27FC236}">
                <a16:creationId xmlns:a16="http://schemas.microsoft.com/office/drawing/2014/main" id="{4235C0E0-B547-4CC0-90AB-4E7239930528}"/>
              </a:ext>
            </a:extLst>
          </p:cNvPr>
          <p:cNvSpPr/>
          <p:nvPr/>
        </p:nvSpPr>
        <p:spPr>
          <a:xfrm>
            <a:off x="1997725" y="179312"/>
            <a:ext cx="7128346" cy="830997"/>
          </a:xfrm>
          <a:prstGeom prst="rect">
            <a:avLst/>
          </a:prstGeom>
          <a:noFill/>
        </p:spPr>
        <p:txBody>
          <a:bodyPr wrap="square" lIns="91440" tIns="45720" rIns="91440" bIns="45720">
            <a:spAutoFit/>
          </a:bodyPr>
          <a:lstStyle/>
          <a:p>
            <a:pPr algn="ctr"/>
            <a:r>
              <a:rPr lang="es-ES" sz="2400" b="0" cap="none" spc="0" dirty="0">
                <a:ln w="0"/>
                <a:solidFill>
                  <a:schemeClr val="tx1"/>
                </a:solidFill>
                <a:effectLst>
                  <a:outerShdw blurRad="38100" dist="19050" dir="2700000" algn="tl" rotWithShape="0">
                    <a:schemeClr val="dk1">
                      <a:alpha val="40000"/>
                    </a:schemeClr>
                  </a:outerShdw>
                </a:effectLst>
                <a:latin typeface="Arial Black" panose="020B0A04020102020204" pitchFamily="34" charset="0"/>
              </a:rPr>
              <a:t>INGRESANDO LOS DATOS DE LAS PRENDAS</a:t>
            </a:r>
          </a:p>
        </p:txBody>
      </p:sp>
      <p:sp>
        <p:nvSpPr>
          <p:cNvPr id="10" name="Rectangle 1">
            <a:extLst>
              <a:ext uri="{FF2B5EF4-FFF2-40B4-BE49-F238E27FC236}">
                <a16:creationId xmlns:a16="http://schemas.microsoft.com/office/drawing/2014/main" id="{E4D33426-65CD-48CF-9AEA-867B25B86B25}"/>
              </a:ext>
            </a:extLst>
          </p:cNvPr>
          <p:cNvSpPr>
            <a:spLocks noChangeArrowheads="1"/>
          </p:cNvSpPr>
          <p:nvPr/>
        </p:nvSpPr>
        <p:spPr bwMode="auto">
          <a:xfrm>
            <a:off x="623047" y="4719755"/>
            <a:ext cx="4455457"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s-MX" altLang="es-MX" sz="1400" dirty="0">
                <a:latin typeface="Arial" panose="020B0604020202020204" pitchFamily="34" charset="0"/>
                <a:cs typeface="Arial" panose="020B0604020202020204" pitchFamily="34" charset="0"/>
              </a:rPr>
              <a:t>Al terminar la creación de la tabla Prendas, se ingresaron varios registros con información sobre marcas, tallas, colores, precios y cantidades disponibles. Gracias a esto, la base de datos cuenta con un inventario de ropa que permite hacer consultas, revisar productos y comprobar que los datos se guardaron correctamente.</a:t>
            </a:r>
          </a:p>
        </p:txBody>
      </p:sp>
    </p:spTree>
    <p:extLst>
      <p:ext uri="{BB962C8B-B14F-4D97-AF65-F5344CB8AC3E}">
        <p14:creationId xmlns:p14="http://schemas.microsoft.com/office/powerpoint/2010/main" val="31489603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Marcador de contenido 5">
            <a:extLst>
              <a:ext uri="{FF2B5EF4-FFF2-40B4-BE49-F238E27FC236}">
                <a16:creationId xmlns:a16="http://schemas.microsoft.com/office/drawing/2014/main" id="{AB07CF75-B804-48A5-8F5E-3F856219909A}"/>
              </a:ext>
            </a:extLst>
          </p:cNvPr>
          <p:cNvPicPr>
            <a:picLocks noGrp="1" noChangeAspect="1"/>
          </p:cNvPicPr>
          <p:nvPr>
            <p:ph sz="quarter" idx="13"/>
          </p:nvPr>
        </p:nvPicPr>
        <p:blipFill>
          <a:blip r:embed="rId2"/>
          <a:stretch>
            <a:fillRect/>
          </a:stretch>
        </p:blipFill>
        <p:spPr>
          <a:xfrm>
            <a:off x="670997" y="845596"/>
            <a:ext cx="4757759" cy="2895320"/>
          </a:xfrm>
        </p:spPr>
      </p:pic>
      <p:sp>
        <p:nvSpPr>
          <p:cNvPr id="4" name="Rectángulo 3">
            <a:extLst>
              <a:ext uri="{FF2B5EF4-FFF2-40B4-BE49-F238E27FC236}">
                <a16:creationId xmlns:a16="http://schemas.microsoft.com/office/drawing/2014/main" id="{D183333F-53A2-4767-8273-B7F6FBA05F1A}"/>
              </a:ext>
            </a:extLst>
          </p:cNvPr>
          <p:cNvSpPr/>
          <p:nvPr/>
        </p:nvSpPr>
        <p:spPr>
          <a:xfrm>
            <a:off x="4419094" y="188276"/>
            <a:ext cx="2564292" cy="369332"/>
          </a:xfrm>
          <a:prstGeom prst="rect">
            <a:avLst/>
          </a:prstGeom>
          <a:noFill/>
        </p:spPr>
        <p:txBody>
          <a:bodyPr wrap="none" lIns="91440" tIns="45720" rIns="91440" bIns="45720">
            <a:spAutoFit/>
          </a:bodyPr>
          <a:lstStyle/>
          <a:p>
            <a:pPr algn="ctr"/>
            <a:r>
              <a:rPr lang="es-ES" b="0" cap="none" spc="0" dirty="0">
                <a:ln w="0"/>
                <a:solidFill>
                  <a:schemeClr val="tx1"/>
                </a:solidFill>
                <a:latin typeface="Arial Black" panose="020B0A04020102020204" pitchFamily="34" charset="0"/>
              </a:rPr>
              <a:t>TABLA DE VENTAS</a:t>
            </a:r>
          </a:p>
        </p:txBody>
      </p:sp>
      <p:pic>
        <p:nvPicPr>
          <p:cNvPr id="8" name="Imagen 7">
            <a:extLst>
              <a:ext uri="{FF2B5EF4-FFF2-40B4-BE49-F238E27FC236}">
                <a16:creationId xmlns:a16="http://schemas.microsoft.com/office/drawing/2014/main" id="{A35720F0-1C62-46FD-9134-CB32636B572B}"/>
              </a:ext>
            </a:extLst>
          </p:cNvPr>
          <p:cNvPicPr>
            <a:picLocks noChangeAspect="1"/>
          </p:cNvPicPr>
          <p:nvPr/>
        </p:nvPicPr>
        <p:blipFill>
          <a:blip r:embed="rId3"/>
          <a:stretch>
            <a:fillRect/>
          </a:stretch>
        </p:blipFill>
        <p:spPr>
          <a:xfrm>
            <a:off x="5737113" y="845596"/>
            <a:ext cx="4759818" cy="2794075"/>
          </a:xfrm>
          <a:prstGeom prst="rect">
            <a:avLst/>
          </a:prstGeom>
        </p:spPr>
      </p:pic>
      <p:sp>
        <p:nvSpPr>
          <p:cNvPr id="9" name="CuadroTexto 8">
            <a:extLst>
              <a:ext uri="{FF2B5EF4-FFF2-40B4-BE49-F238E27FC236}">
                <a16:creationId xmlns:a16="http://schemas.microsoft.com/office/drawing/2014/main" id="{8D538724-2ACF-4547-AD32-9FCF50A3E9AC}"/>
              </a:ext>
            </a:extLst>
          </p:cNvPr>
          <p:cNvSpPr txBox="1"/>
          <p:nvPr/>
        </p:nvSpPr>
        <p:spPr>
          <a:xfrm>
            <a:off x="672054" y="4392705"/>
            <a:ext cx="5065059" cy="1384995"/>
          </a:xfrm>
          <a:prstGeom prst="rect">
            <a:avLst/>
          </a:prstGeom>
          <a:noFill/>
        </p:spPr>
        <p:txBody>
          <a:bodyPr wrap="square" rtlCol="0">
            <a:spAutoFit/>
          </a:bodyPr>
          <a:lstStyle/>
          <a:p>
            <a:pPr algn="just"/>
            <a:r>
              <a:rPr lang="es-MX" sz="1400" dirty="0">
                <a:latin typeface="Arial" panose="020B0604020202020204" pitchFamily="34" charset="0"/>
                <a:cs typeface="Arial" panose="020B0604020202020204" pitchFamily="34" charset="0"/>
              </a:rPr>
              <a:t>La tabla Ventas se utilizó para guardar la información de cada compra realizada en la tienda de ropa. En esta tabla se registran datos importantes como el cliente que compró, la prenda vendida, el empleado que atendió, la fecha de la venta y el total pagado. Esto ayuda a tener un control más ordenado de las operaciones realizadas dentro del negocio.</a:t>
            </a:r>
          </a:p>
        </p:txBody>
      </p:sp>
    </p:spTree>
    <p:extLst>
      <p:ext uri="{BB962C8B-B14F-4D97-AF65-F5344CB8AC3E}">
        <p14:creationId xmlns:p14="http://schemas.microsoft.com/office/powerpoint/2010/main" val="35766797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0B4EECDC-BEEF-421B-98A7-A29446D108C0}"/>
              </a:ext>
            </a:extLst>
          </p:cNvPr>
          <p:cNvSpPr>
            <a:spLocks noGrp="1"/>
          </p:cNvSpPr>
          <p:nvPr>
            <p:ph sz="quarter" idx="13"/>
          </p:nvPr>
        </p:nvSpPr>
        <p:spPr>
          <a:xfrm>
            <a:off x="1183341" y="4409881"/>
            <a:ext cx="6230471" cy="1536431"/>
          </a:xfrm>
        </p:spPr>
        <p:txBody>
          <a:bodyPr>
            <a:noAutofit/>
          </a:bodyPr>
          <a:lstStyle/>
          <a:p>
            <a:pPr marL="0" indent="0" algn="just">
              <a:buNone/>
            </a:pPr>
            <a:r>
              <a:rPr lang="es-MX" sz="1600" cap="none" dirty="0">
                <a:latin typeface="Arial" panose="020B0604020202020204" pitchFamily="34" charset="0"/>
                <a:cs typeface="Arial" panose="020B0604020202020204" pitchFamily="34" charset="0"/>
              </a:rPr>
              <a:t>Se ingresaron datos en la tabla ventas, relacionando la información de clientes, prendas y empleados. con esto se pudo simular el proceso de una compra dentro de la tienda de ropa y comprobar que la base de datos funciona correctamente al registrar las operaciones realizadas.</a:t>
            </a:r>
          </a:p>
        </p:txBody>
      </p:sp>
      <p:sp>
        <p:nvSpPr>
          <p:cNvPr id="4" name="Rectángulo 3">
            <a:extLst>
              <a:ext uri="{FF2B5EF4-FFF2-40B4-BE49-F238E27FC236}">
                <a16:creationId xmlns:a16="http://schemas.microsoft.com/office/drawing/2014/main" id="{0520F6B8-425E-4DEB-A2A4-3413B7F4AED8}"/>
              </a:ext>
            </a:extLst>
          </p:cNvPr>
          <p:cNvSpPr/>
          <p:nvPr/>
        </p:nvSpPr>
        <p:spPr>
          <a:xfrm>
            <a:off x="2558257" y="80690"/>
            <a:ext cx="7576882" cy="830997"/>
          </a:xfrm>
          <a:prstGeom prst="rect">
            <a:avLst/>
          </a:prstGeom>
          <a:noFill/>
        </p:spPr>
        <p:txBody>
          <a:bodyPr wrap="none" lIns="91440" tIns="45720" rIns="91440" bIns="45720">
            <a:spAutoFit/>
          </a:bodyPr>
          <a:lstStyle/>
          <a:p>
            <a:pPr algn="ctr"/>
            <a:r>
              <a:rPr lang="es-ES" sz="2400" b="0" cap="none" spc="0" dirty="0">
                <a:ln w="0"/>
                <a:solidFill>
                  <a:schemeClr val="tx1"/>
                </a:solidFill>
                <a:latin typeface="Arial Black" panose="020B0A04020102020204" pitchFamily="34" charset="0"/>
              </a:rPr>
              <a:t>INGRESANDO LOS DATOS DE LAS PRENDAS</a:t>
            </a:r>
          </a:p>
          <a:p>
            <a:pPr algn="ctr"/>
            <a:endParaRPr lang="es-ES" sz="2400" b="0" cap="none" spc="0" dirty="0">
              <a:ln w="0"/>
              <a:solidFill>
                <a:schemeClr val="tx1"/>
              </a:solidFill>
            </a:endParaRPr>
          </a:p>
        </p:txBody>
      </p:sp>
      <p:pic>
        <p:nvPicPr>
          <p:cNvPr id="6" name="Imagen 5">
            <a:extLst>
              <a:ext uri="{FF2B5EF4-FFF2-40B4-BE49-F238E27FC236}">
                <a16:creationId xmlns:a16="http://schemas.microsoft.com/office/drawing/2014/main" id="{85F68686-E3C6-42D5-A3DD-F11F506E834E}"/>
              </a:ext>
            </a:extLst>
          </p:cNvPr>
          <p:cNvPicPr>
            <a:picLocks noChangeAspect="1"/>
          </p:cNvPicPr>
          <p:nvPr/>
        </p:nvPicPr>
        <p:blipFill>
          <a:blip r:embed="rId2"/>
          <a:stretch>
            <a:fillRect/>
          </a:stretch>
        </p:blipFill>
        <p:spPr>
          <a:xfrm>
            <a:off x="1506070" y="911687"/>
            <a:ext cx="4160424" cy="3258868"/>
          </a:xfrm>
          <a:prstGeom prst="rect">
            <a:avLst/>
          </a:prstGeom>
        </p:spPr>
      </p:pic>
      <p:pic>
        <p:nvPicPr>
          <p:cNvPr id="8" name="Imagen 7">
            <a:extLst>
              <a:ext uri="{FF2B5EF4-FFF2-40B4-BE49-F238E27FC236}">
                <a16:creationId xmlns:a16="http://schemas.microsoft.com/office/drawing/2014/main" id="{F330097E-DDF5-40BA-B3E2-B2917BDFFEF5}"/>
              </a:ext>
            </a:extLst>
          </p:cNvPr>
          <p:cNvPicPr>
            <a:picLocks noChangeAspect="1"/>
          </p:cNvPicPr>
          <p:nvPr/>
        </p:nvPicPr>
        <p:blipFill>
          <a:blip r:embed="rId3"/>
          <a:stretch>
            <a:fillRect/>
          </a:stretch>
        </p:blipFill>
        <p:spPr>
          <a:xfrm>
            <a:off x="5748908" y="911687"/>
            <a:ext cx="5556163" cy="2801603"/>
          </a:xfrm>
          <a:prstGeom prst="rect">
            <a:avLst/>
          </a:prstGeom>
        </p:spPr>
      </p:pic>
    </p:spTree>
    <p:extLst>
      <p:ext uri="{BB962C8B-B14F-4D97-AF65-F5344CB8AC3E}">
        <p14:creationId xmlns:p14="http://schemas.microsoft.com/office/powerpoint/2010/main" val="39394448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5E14DDFF-9382-407D-9373-EF134750181B}"/>
              </a:ext>
            </a:extLst>
          </p:cNvPr>
          <p:cNvSpPr/>
          <p:nvPr/>
        </p:nvSpPr>
        <p:spPr>
          <a:xfrm>
            <a:off x="2303930" y="80700"/>
            <a:ext cx="6886701" cy="461665"/>
          </a:xfrm>
          <a:prstGeom prst="rect">
            <a:avLst/>
          </a:prstGeom>
          <a:noFill/>
        </p:spPr>
        <p:txBody>
          <a:bodyPr wrap="square" lIns="91440" tIns="45720" rIns="91440" bIns="45720">
            <a:spAutoFit/>
          </a:bodyPr>
          <a:lstStyle/>
          <a:p>
            <a:pPr algn="ctr"/>
            <a:r>
              <a:rPr lang="es-ES" sz="2400" b="0" cap="none" spc="0" dirty="0">
                <a:ln w="0"/>
                <a:solidFill>
                  <a:schemeClr val="tx1"/>
                </a:solidFill>
                <a:latin typeface="Arial Black" panose="020B0A04020102020204" pitchFamily="34" charset="0"/>
              </a:rPr>
              <a:t>TABLA DE EMPLEADOS</a:t>
            </a:r>
            <a:endParaRPr lang="es-ES" sz="2400" b="0" cap="none" spc="0" dirty="0">
              <a:ln w="0"/>
              <a:solidFill>
                <a:schemeClr val="tx1"/>
              </a:solidFill>
              <a:effectLst>
                <a:outerShdw blurRad="38100" dist="19050" dir="2700000" algn="tl" rotWithShape="0">
                  <a:schemeClr val="dk1">
                    <a:alpha val="40000"/>
                  </a:schemeClr>
                </a:outerShdw>
              </a:effectLst>
            </a:endParaRPr>
          </a:p>
        </p:txBody>
      </p:sp>
      <p:pic>
        <p:nvPicPr>
          <p:cNvPr id="9" name="Imagen 8">
            <a:extLst>
              <a:ext uri="{FF2B5EF4-FFF2-40B4-BE49-F238E27FC236}">
                <a16:creationId xmlns:a16="http://schemas.microsoft.com/office/drawing/2014/main" id="{2C681635-A5E1-4354-B9B2-022C9BA47B7E}"/>
              </a:ext>
            </a:extLst>
          </p:cNvPr>
          <p:cNvPicPr>
            <a:picLocks noChangeAspect="1"/>
          </p:cNvPicPr>
          <p:nvPr/>
        </p:nvPicPr>
        <p:blipFill>
          <a:blip r:embed="rId2"/>
          <a:stretch>
            <a:fillRect/>
          </a:stretch>
        </p:blipFill>
        <p:spPr>
          <a:xfrm>
            <a:off x="1050226" y="640975"/>
            <a:ext cx="4419148" cy="3074896"/>
          </a:xfrm>
          <a:prstGeom prst="rect">
            <a:avLst/>
          </a:prstGeom>
        </p:spPr>
      </p:pic>
      <p:pic>
        <p:nvPicPr>
          <p:cNvPr id="11" name="Imagen 10">
            <a:extLst>
              <a:ext uri="{FF2B5EF4-FFF2-40B4-BE49-F238E27FC236}">
                <a16:creationId xmlns:a16="http://schemas.microsoft.com/office/drawing/2014/main" id="{70A4873C-838C-477A-A73D-98044274C6D6}"/>
              </a:ext>
            </a:extLst>
          </p:cNvPr>
          <p:cNvPicPr>
            <a:picLocks noChangeAspect="1"/>
          </p:cNvPicPr>
          <p:nvPr/>
        </p:nvPicPr>
        <p:blipFill>
          <a:blip r:embed="rId3"/>
          <a:stretch>
            <a:fillRect/>
          </a:stretch>
        </p:blipFill>
        <p:spPr>
          <a:xfrm>
            <a:off x="5747280" y="817728"/>
            <a:ext cx="6022459" cy="2721390"/>
          </a:xfrm>
          <a:prstGeom prst="rect">
            <a:avLst/>
          </a:prstGeom>
        </p:spPr>
      </p:pic>
      <p:sp>
        <p:nvSpPr>
          <p:cNvPr id="12" name="CuadroTexto 11">
            <a:extLst>
              <a:ext uri="{FF2B5EF4-FFF2-40B4-BE49-F238E27FC236}">
                <a16:creationId xmlns:a16="http://schemas.microsoft.com/office/drawing/2014/main" id="{0679E9F0-AE7E-4755-ABE0-D73A2A7DED19}"/>
              </a:ext>
            </a:extLst>
          </p:cNvPr>
          <p:cNvSpPr txBox="1"/>
          <p:nvPr/>
        </p:nvSpPr>
        <p:spPr>
          <a:xfrm>
            <a:off x="1156447" y="4204446"/>
            <a:ext cx="5495364" cy="1569660"/>
          </a:xfrm>
          <a:prstGeom prst="rect">
            <a:avLst/>
          </a:prstGeom>
          <a:noFill/>
        </p:spPr>
        <p:txBody>
          <a:bodyPr wrap="square" rtlCol="0">
            <a:spAutoFit/>
          </a:bodyPr>
          <a:lstStyle/>
          <a:p>
            <a:pPr algn="just"/>
            <a:r>
              <a:rPr lang="es-MX" sz="1600" dirty="0">
                <a:latin typeface="Arial" panose="020B0604020202020204" pitchFamily="34" charset="0"/>
                <a:cs typeface="Arial" panose="020B0604020202020204" pitchFamily="34" charset="0"/>
              </a:rPr>
              <a:t>Después se agregaron datos a la tabla Empleados, incluyendo diferentes cargos dentro de la tienda de ropa, como vendedores, cajeros, supervisores y gerente general. Esto ayudó a representar cómo estaría organizada la tienda y permitió que la base de datos tuviera información más parecida a la de un negocio real.</a:t>
            </a:r>
          </a:p>
        </p:txBody>
      </p:sp>
    </p:spTree>
    <p:extLst>
      <p:ext uri="{BB962C8B-B14F-4D97-AF65-F5344CB8AC3E}">
        <p14:creationId xmlns:p14="http://schemas.microsoft.com/office/powerpoint/2010/main" val="982504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2BE94B1B-2207-4E20-B30E-C3E75D77AA2F}"/>
              </a:ext>
            </a:extLst>
          </p:cNvPr>
          <p:cNvPicPr>
            <a:picLocks noChangeAspect="1"/>
          </p:cNvPicPr>
          <p:nvPr/>
        </p:nvPicPr>
        <p:blipFill>
          <a:blip r:embed="rId2"/>
          <a:stretch>
            <a:fillRect/>
          </a:stretch>
        </p:blipFill>
        <p:spPr>
          <a:xfrm>
            <a:off x="1110190" y="1098585"/>
            <a:ext cx="4418630" cy="2836920"/>
          </a:xfrm>
          <a:prstGeom prst="rect">
            <a:avLst/>
          </a:prstGeom>
        </p:spPr>
      </p:pic>
      <p:sp>
        <p:nvSpPr>
          <p:cNvPr id="9" name="Rectángulo 8">
            <a:extLst>
              <a:ext uri="{FF2B5EF4-FFF2-40B4-BE49-F238E27FC236}">
                <a16:creationId xmlns:a16="http://schemas.microsoft.com/office/drawing/2014/main" id="{291B52D3-D769-4145-BFC1-8E42555E2D1C}"/>
              </a:ext>
            </a:extLst>
          </p:cNvPr>
          <p:cNvSpPr/>
          <p:nvPr/>
        </p:nvSpPr>
        <p:spPr>
          <a:xfrm>
            <a:off x="2259672" y="97259"/>
            <a:ext cx="6749858" cy="1661993"/>
          </a:xfrm>
          <a:prstGeom prst="rect">
            <a:avLst/>
          </a:prstGeom>
          <a:noFill/>
        </p:spPr>
        <p:txBody>
          <a:bodyPr wrap="square" lIns="91440" tIns="45720" rIns="91440" bIns="45720">
            <a:spAutoFit/>
          </a:bodyPr>
          <a:lstStyle/>
          <a:p>
            <a:pPr algn="ctr"/>
            <a:r>
              <a:rPr lang="es-ES" sz="2400" b="0" cap="none" spc="0" dirty="0">
                <a:ln w="0"/>
                <a:solidFill>
                  <a:schemeClr val="tx1"/>
                </a:solidFill>
                <a:latin typeface="Arial Black" panose="020B0A04020102020204" pitchFamily="34" charset="0"/>
              </a:rPr>
              <a:t>INGRESANDO LOS DATOS DE LAS PRENDAS</a:t>
            </a:r>
          </a:p>
          <a:p>
            <a:pPr algn="ctr"/>
            <a:endParaRPr lang="es-ES" sz="5400" b="0" cap="none" spc="0" dirty="0">
              <a:ln w="0"/>
              <a:solidFill>
                <a:schemeClr val="tx1"/>
              </a:solidFill>
              <a:effectLst>
                <a:outerShdw blurRad="38100" dist="19050" dir="2700000" algn="tl" rotWithShape="0">
                  <a:schemeClr val="dk1">
                    <a:alpha val="40000"/>
                  </a:schemeClr>
                </a:outerShdw>
              </a:effectLst>
            </a:endParaRPr>
          </a:p>
        </p:txBody>
      </p:sp>
      <p:pic>
        <p:nvPicPr>
          <p:cNvPr id="11" name="Imagen 10">
            <a:extLst>
              <a:ext uri="{FF2B5EF4-FFF2-40B4-BE49-F238E27FC236}">
                <a16:creationId xmlns:a16="http://schemas.microsoft.com/office/drawing/2014/main" id="{993E569F-BAFB-4BA9-8BB6-08E2D9559EC3}"/>
              </a:ext>
            </a:extLst>
          </p:cNvPr>
          <p:cNvPicPr>
            <a:picLocks noChangeAspect="1"/>
          </p:cNvPicPr>
          <p:nvPr/>
        </p:nvPicPr>
        <p:blipFill>
          <a:blip r:embed="rId3"/>
          <a:stretch>
            <a:fillRect/>
          </a:stretch>
        </p:blipFill>
        <p:spPr>
          <a:xfrm>
            <a:off x="6096000" y="1098585"/>
            <a:ext cx="4985810" cy="3020570"/>
          </a:xfrm>
          <a:prstGeom prst="rect">
            <a:avLst/>
          </a:prstGeom>
        </p:spPr>
      </p:pic>
      <p:sp>
        <p:nvSpPr>
          <p:cNvPr id="12" name="CuadroTexto 11">
            <a:extLst>
              <a:ext uri="{FF2B5EF4-FFF2-40B4-BE49-F238E27FC236}">
                <a16:creationId xmlns:a16="http://schemas.microsoft.com/office/drawing/2014/main" id="{DA97FD37-ABE9-40D6-8437-EF76AC84ADEA}"/>
              </a:ext>
            </a:extLst>
          </p:cNvPr>
          <p:cNvSpPr txBox="1"/>
          <p:nvPr/>
        </p:nvSpPr>
        <p:spPr>
          <a:xfrm>
            <a:off x="970752" y="4571999"/>
            <a:ext cx="4697506" cy="1384995"/>
          </a:xfrm>
          <a:prstGeom prst="rect">
            <a:avLst/>
          </a:prstGeom>
          <a:noFill/>
        </p:spPr>
        <p:txBody>
          <a:bodyPr wrap="square" rtlCol="0">
            <a:spAutoFit/>
          </a:bodyPr>
          <a:lstStyle/>
          <a:p>
            <a:pPr algn="just"/>
            <a:r>
              <a:rPr lang="es-MX" sz="1400" dirty="0">
                <a:latin typeface="Arial" panose="020B0604020202020204" pitchFamily="34" charset="0"/>
                <a:cs typeface="Arial" panose="020B0604020202020204" pitchFamily="34" charset="0"/>
              </a:rPr>
              <a:t>Empleados se elaboró con el propósito de guardar los datos del personal que trabaja en la tienda de ropa. En ella se registran elementos importantes como el número de identificación del empleado, su nombre, apellido, cargo que desempeña, número de teléfono y salario correspondiente.</a:t>
            </a:r>
          </a:p>
        </p:txBody>
      </p:sp>
    </p:spTree>
    <p:extLst>
      <p:ext uri="{BB962C8B-B14F-4D97-AF65-F5344CB8AC3E}">
        <p14:creationId xmlns:p14="http://schemas.microsoft.com/office/powerpoint/2010/main" val="21323236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FF1ABB7-1CE2-4A9B-870E-51831C8B46CD}"/>
              </a:ext>
            </a:extLst>
          </p:cNvPr>
          <p:cNvSpPr>
            <a:spLocks noGrp="1"/>
          </p:cNvSpPr>
          <p:nvPr>
            <p:ph type="title"/>
          </p:nvPr>
        </p:nvSpPr>
        <p:spPr>
          <a:xfrm>
            <a:off x="438646" y="71670"/>
            <a:ext cx="10364451" cy="1596177"/>
          </a:xfrm>
        </p:spPr>
        <p:txBody>
          <a:bodyPr/>
          <a:lstStyle/>
          <a:p>
            <a:r>
              <a:rPr lang="es-MX" b="1" dirty="0"/>
              <a:t>CONCLUSION </a:t>
            </a:r>
          </a:p>
        </p:txBody>
      </p:sp>
      <p:sp>
        <p:nvSpPr>
          <p:cNvPr id="3" name="Marcador de contenido 2">
            <a:extLst>
              <a:ext uri="{FF2B5EF4-FFF2-40B4-BE49-F238E27FC236}">
                <a16:creationId xmlns:a16="http://schemas.microsoft.com/office/drawing/2014/main" id="{C8CA1477-16CE-4489-9986-F62D85A341E9}"/>
              </a:ext>
            </a:extLst>
          </p:cNvPr>
          <p:cNvSpPr>
            <a:spLocks noGrp="1"/>
          </p:cNvSpPr>
          <p:nvPr>
            <p:ph sz="quarter" idx="13"/>
          </p:nvPr>
        </p:nvSpPr>
        <p:spPr>
          <a:xfrm>
            <a:off x="2353235" y="1945341"/>
            <a:ext cx="7485530" cy="3944470"/>
          </a:xfrm>
        </p:spPr>
        <p:txBody>
          <a:bodyPr>
            <a:noAutofit/>
          </a:bodyPr>
          <a:lstStyle/>
          <a:p>
            <a:pPr marL="0" indent="0" algn="just">
              <a:buNone/>
            </a:pPr>
            <a:r>
              <a:rPr lang="es-MX" sz="1800" cap="none" dirty="0">
                <a:latin typeface="Arial" panose="020B0604020202020204" pitchFamily="34" charset="0"/>
                <a:cs typeface="Arial" panose="020B0604020202020204" pitchFamily="34" charset="0"/>
              </a:rPr>
              <a:t>Esta actividad permitió poner en práctica el uso de </a:t>
            </a:r>
            <a:r>
              <a:rPr lang="es-MX" sz="1800" cap="none" dirty="0" err="1">
                <a:latin typeface="Arial" panose="020B0604020202020204" pitchFamily="34" charset="0"/>
                <a:cs typeface="Arial" panose="020B0604020202020204" pitchFamily="34" charset="0"/>
              </a:rPr>
              <a:t>postgresql</a:t>
            </a:r>
            <a:r>
              <a:rPr lang="es-MX" sz="1800" cap="none" dirty="0">
                <a:latin typeface="Arial" panose="020B0604020202020204" pitchFamily="34" charset="0"/>
                <a:cs typeface="Arial" panose="020B0604020202020204" pitchFamily="34" charset="0"/>
              </a:rPr>
              <a:t> para construir y administrar una base de datos. durante el desarrollo se organizaron tablas para una tienda de ropa, registrando datos de clientes, prendas, empleados y ventas. esto ayudó a comprender mejor cómo se guarda, ordena y consulta la información dentro de un sistema, simulando el funcionamiento de un negocio real.</a:t>
            </a:r>
          </a:p>
        </p:txBody>
      </p:sp>
    </p:spTree>
    <p:extLst>
      <p:ext uri="{BB962C8B-B14F-4D97-AF65-F5344CB8AC3E}">
        <p14:creationId xmlns:p14="http://schemas.microsoft.com/office/powerpoint/2010/main" val="16809002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4C9806-5376-4B14-8070-8AB15311E163}"/>
              </a:ext>
            </a:extLst>
          </p:cNvPr>
          <p:cNvSpPr>
            <a:spLocks noGrp="1"/>
          </p:cNvSpPr>
          <p:nvPr>
            <p:ph type="title"/>
          </p:nvPr>
        </p:nvSpPr>
        <p:spPr/>
        <p:txBody>
          <a:bodyPr/>
          <a:lstStyle/>
          <a:p>
            <a:r>
              <a:rPr lang="es-MX" dirty="0">
                <a:solidFill>
                  <a:schemeClr val="tx1"/>
                </a:solidFill>
              </a:rPr>
              <a:t>ANEXO LINK DE LA ACTIVIDAD SOLICITADA Y SUBIDA A GITHUB</a:t>
            </a:r>
            <a:endParaRPr lang="es-MX" dirty="0"/>
          </a:p>
        </p:txBody>
      </p:sp>
      <p:sp>
        <p:nvSpPr>
          <p:cNvPr id="3" name="Marcador de contenido 2">
            <a:extLst>
              <a:ext uri="{FF2B5EF4-FFF2-40B4-BE49-F238E27FC236}">
                <a16:creationId xmlns:a16="http://schemas.microsoft.com/office/drawing/2014/main" id="{296BD6C2-2854-48A7-BA6A-48D2BB73F130}"/>
              </a:ext>
            </a:extLst>
          </p:cNvPr>
          <p:cNvSpPr>
            <a:spLocks noGrp="1"/>
          </p:cNvSpPr>
          <p:nvPr>
            <p:ph sz="quarter" idx="13"/>
          </p:nvPr>
        </p:nvSpPr>
        <p:spPr/>
        <p:txBody>
          <a:bodyPr/>
          <a:lstStyle/>
          <a:p>
            <a:r>
              <a:rPr lang="es-MX"/>
              <a:t>https://github.com/lopezramirezsimone-cyber/FBD.git</a:t>
            </a:r>
          </a:p>
        </p:txBody>
      </p:sp>
    </p:spTree>
    <p:extLst>
      <p:ext uri="{BB962C8B-B14F-4D97-AF65-F5344CB8AC3E}">
        <p14:creationId xmlns:p14="http://schemas.microsoft.com/office/powerpoint/2010/main" val="377625952"/>
      </p:ext>
    </p:extLst>
  </p:cSld>
  <p:clrMapOvr>
    <a:masterClrMapping/>
  </p:clrMapOvr>
</p:sld>
</file>

<file path=ppt/theme/theme1.xml><?xml version="1.0" encoding="utf-8"?>
<a:theme xmlns:a="http://schemas.openxmlformats.org/drawingml/2006/main" name="Gota">
  <a:themeElements>
    <a:clrScheme name="Azul cálido">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Gota">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ólidos sutile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78000"/>
                <a:shade val="100000"/>
                <a:hueMod val="136000"/>
                <a:satMod val="160000"/>
                <a:lumMod val="105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C71B277C-C29A-4BA0-A7BA-43502DF21AB3}"/>
    </a:ext>
  </a:extLst>
</a:theme>
</file>

<file path=docProps/app.xml><?xml version="1.0" encoding="utf-8"?>
<Properties xmlns="http://schemas.openxmlformats.org/officeDocument/2006/extended-properties" xmlns:vt="http://schemas.openxmlformats.org/officeDocument/2006/docPropsVTypes">
  <Template>Gota</Template>
  <TotalTime>473</TotalTime>
  <Words>861</Words>
  <Application>Microsoft Office PowerPoint</Application>
  <PresentationFormat>Panorámica</PresentationFormat>
  <Paragraphs>35</Paragraphs>
  <Slides>14</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14</vt:i4>
      </vt:variant>
    </vt:vector>
  </HeadingPairs>
  <TitlesOfParts>
    <vt:vector size="18" baseType="lpstr">
      <vt:lpstr>Arial</vt:lpstr>
      <vt:lpstr>Arial Black</vt:lpstr>
      <vt:lpstr>Tw Cen MT</vt:lpstr>
      <vt:lpstr>Gota</vt:lpstr>
      <vt:lpstr>Presentación de PowerPoint</vt:lpstr>
      <vt:lpstr>INTRODUCCION </vt:lpstr>
      <vt:lpstr>JUSTIFICACION</vt:lpstr>
      <vt:lpstr>Presentación de PowerPoint</vt:lpstr>
      <vt:lpstr>Presentación de PowerPoint</vt:lpstr>
      <vt:lpstr>Presentación de PowerPoint</vt:lpstr>
      <vt:lpstr>Tabla de prendas </vt:lpstr>
      <vt:lpstr>Presentación de PowerPoint</vt:lpstr>
      <vt:lpstr>Presentación de PowerPoint</vt:lpstr>
      <vt:lpstr>Presentación de PowerPoint</vt:lpstr>
      <vt:lpstr>Presentación de PowerPoint</vt:lpstr>
      <vt:lpstr>Presentación de PowerPoint</vt:lpstr>
      <vt:lpstr>CONCLUSION </vt:lpstr>
      <vt:lpstr>ANEXO LINK DE LA ACTIVIDAD SOLICITADA Y SUBIDA A GITHUB</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Belen</dc:creator>
  <cp:lastModifiedBy>Belen</cp:lastModifiedBy>
  <cp:revision>36</cp:revision>
  <dcterms:created xsi:type="dcterms:W3CDTF">2026-05-05T12:16:48Z</dcterms:created>
  <dcterms:modified xsi:type="dcterms:W3CDTF">2026-06-07T11:31:25Z</dcterms:modified>
</cp:coreProperties>
</file>