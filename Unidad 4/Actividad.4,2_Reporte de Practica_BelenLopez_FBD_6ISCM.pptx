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84" r:id="rId5"/>
    <p:sldId id="285" r:id="rId6"/>
    <p:sldId id="286" r:id="rId7"/>
    <p:sldId id="287" r:id="rId8"/>
    <p:sldId id="288" r:id="rId9"/>
    <p:sldId id="282" r:id="rId10"/>
    <p:sldId id="283"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84A96757-7141-4220-9764-81AAB9E5A4B0}" type="datetimeFigureOut">
              <a:rPr lang="es-MX" smtClean="0"/>
              <a:t>07/06/2026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429623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4A96757-7141-4220-9764-81AAB9E5A4B0}" type="datetimeFigureOut">
              <a:rPr lang="es-MX" smtClean="0"/>
              <a:t>07/06/2026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564148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4A96757-7141-4220-9764-81AAB9E5A4B0}" type="datetimeFigureOut">
              <a:rPr lang="es-MX" smtClean="0"/>
              <a:t>07/06/2026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1426097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84A96757-7141-4220-9764-81AAB9E5A4B0}" type="datetimeFigureOut">
              <a:rPr lang="es-MX" smtClean="0"/>
              <a:t>07/06/2026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2531380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Content Placeholder 3"/>
          <p:cNvSpPr>
            <a:spLocks noGrp="1"/>
          </p:cNvSpPr>
          <p:nvPr>
            <p:ph sz="quarter" idx="13"/>
          </p:nvPr>
        </p:nvSpPr>
        <p:spPr>
          <a:xfrm>
            <a:off x="913774" y="3051012"/>
            <a:ext cx="5106027"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3" name="Content Placeholder 5"/>
          <p:cNvSpPr>
            <a:spLocks noGrp="1"/>
          </p:cNvSpPr>
          <p:nvPr>
            <p:ph sz="quarter" idx="14"/>
          </p:nvPr>
        </p:nvSpPr>
        <p:spPr>
          <a:xfrm>
            <a:off x="6172200" y="3051012"/>
            <a:ext cx="5105401"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84A96757-7141-4220-9764-81AAB9E5A4B0}" type="datetimeFigureOut">
              <a:rPr lang="es-MX" smtClean="0"/>
              <a:t>07/06/2026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2024973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84A96757-7141-4220-9764-81AAB9E5A4B0}" type="datetimeFigureOut">
              <a:rPr lang="es-MX" smtClean="0"/>
              <a:t>07/06/2026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27354873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84A96757-7141-4220-9764-81AAB9E5A4B0}" type="datetimeFigureOut">
              <a:rPr lang="es-MX" smtClean="0"/>
              <a:t>07/06/2026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033649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s-ES"/>
              <a:t>Haga clic para modificar el estilo de título del patrón</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07/06/2026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985659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07/06/2026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17268750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07/06/2026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9673423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07/06/2026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1419290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07/06/2026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4418330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07/06/2026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12916926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84A96757-7141-4220-9764-81AAB9E5A4B0}" type="datetimeFigureOut">
              <a:rPr lang="es-MX" smtClean="0"/>
              <a:t>07/06/2026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6890802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84A96757-7141-4220-9764-81AAB9E5A4B0}" type="datetimeFigureOut">
              <a:rPr lang="es-MX" smtClean="0"/>
              <a:t>07/06/2026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17051299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4A96757-7141-4220-9764-81AAB9E5A4B0}" type="datetimeFigureOut">
              <a:rPr lang="es-MX" smtClean="0"/>
              <a:t>07/06/2026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6258012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s-ES"/>
              <a:t>Haga clic para modificar el estilo de título del patrón</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4A96757-7141-4220-9764-81AAB9E5A4B0}" type="datetimeFigureOut">
              <a:rPr lang="es-MX" smtClean="0"/>
              <a:t>07/06/2026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2089557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mt="8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84A96757-7141-4220-9764-81AAB9E5A4B0}" type="datetimeFigureOut">
              <a:rPr lang="es-MX" smtClean="0"/>
              <a:t>07/06/2026</a:t>
            </a:fld>
            <a:endParaRPr lang="es-MX"/>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s-MX"/>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3472C795-96C6-460C-922D-97DFDDCB5C3A}" type="slidenum">
              <a:rPr lang="es-MX" smtClean="0"/>
              <a:t>‹Nº›</a:t>
            </a:fld>
            <a:endParaRPr lang="es-MX"/>
          </a:p>
        </p:txBody>
      </p:sp>
    </p:spTree>
    <p:extLst>
      <p:ext uri="{BB962C8B-B14F-4D97-AF65-F5344CB8AC3E}">
        <p14:creationId xmlns:p14="http://schemas.microsoft.com/office/powerpoint/2010/main" val="1957354193"/>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DFDB4996-25A1-4C8B-9C3A-C6F4190D51FF}"/>
              </a:ext>
            </a:extLst>
          </p:cNvPr>
          <p:cNvPicPr>
            <a:picLocks noChangeAspect="1"/>
          </p:cNvPicPr>
          <p:nvPr/>
        </p:nvPicPr>
        <p:blipFill rotWithShape="1">
          <a:blip r:embed="rId2"/>
          <a:srcRect l="6551" t="37365" r="5073"/>
          <a:stretch/>
        </p:blipFill>
        <p:spPr>
          <a:xfrm>
            <a:off x="1290918" y="751864"/>
            <a:ext cx="10040471" cy="726922"/>
          </a:xfrm>
          <a:prstGeom prst="rect">
            <a:avLst/>
          </a:prstGeom>
        </p:spPr>
      </p:pic>
      <p:sp>
        <p:nvSpPr>
          <p:cNvPr id="5" name="CuadroTexto 4">
            <a:extLst>
              <a:ext uri="{FF2B5EF4-FFF2-40B4-BE49-F238E27FC236}">
                <a16:creationId xmlns:a16="http://schemas.microsoft.com/office/drawing/2014/main" id="{74CA5DC0-9F7F-45E1-A2A4-76C139FCCAC5}"/>
              </a:ext>
            </a:extLst>
          </p:cNvPr>
          <p:cNvSpPr txBox="1"/>
          <p:nvPr/>
        </p:nvSpPr>
        <p:spPr>
          <a:xfrm>
            <a:off x="2052918" y="1605776"/>
            <a:ext cx="7440705" cy="3466911"/>
          </a:xfrm>
          <a:prstGeom prst="rect">
            <a:avLst/>
          </a:prstGeom>
          <a:noFill/>
        </p:spPr>
        <p:txBody>
          <a:bodyPr wrap="square" rtlCol="0">
            <a:spAutoFit/>
          </a:bodyPr>
          <a:lstStyle/>
          <a:p>
            <a:pPr marL="12700" marR="1219200" indent="-12700" algn="ctr">
              <a:lnSpc>
                <a:spcPct val="107000"/>
              </a:lnSpc>
              <a:spcAft>
                <a:spcPts val="1115"/>
              </a:spcAft>
            </a:pPr>
            <a:r>
              <a:rPr lang="es-MX" sz="11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Instituto Tecnológico de Frontera Comalapa</a:t>
            </a:r>
          </a:p>
          <a:p>
            <a:pPr marL="12700" marR="1219200" indent="-12700" algn="ctr">
              <a:lnSpc>
                <a:spcPct val="107000"/>
              </a:lnSpc>
              <a:spcAft>
                <a:spcPts val="111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Modalidad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Mixta </a:t>
            </a: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Materia: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s-MX" sz="1400" dirty="0">
                <a:solidFill>
                  <a:srgbClr val="000000"/>
                </a:solidFill>
                <a:latin typeface="Arial" panose="020B0604020202020204" pitchFamily="34" charset="0"/>
                <a:ea typeface="Arial" panose="020B0604020202020204" pitchFamily="34" charset="0"/>
                <a:cs typeface="Arial" panose="020B0604020202020204" pitchFamily="34" charset="0"/>
              </a:rPr>
              <a:t>Fundamentos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de base de datos  </a:t>
            </a: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Semestre: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Sexto semestre </a:t>
            </a: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Especialidad:</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Ingeniería en Sistemas Computacionales.  </a:t>
            </a: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Numero de control: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231260010  </a:t>
            </a:r>
            <a:endParaRPr lang="es-MX" sz="1400" dirty="0">
              <a:solidFill>
                <a:srgbClr val="000000"/>
              </a:solidFill>
              <a:latin typeface="Arial" panose="020B0604020202020204" pitchFamily="34" charset="0"/>
              <a:ea typeface="Arial" panose="020B0604020202020204" pitchFamily="34" charset="0"/>
              <a:cs typeface="Arial" panose="020B0604020202020204" pitchFamily="34" charset="0"/>
            </a:endParaRP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Nombre del alumno:</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Simone Belén López Ramírez</a:t>
            </a: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endParaRPr lang="es-MX" sz="1400" dirty="0">
              <a:solidFill>
                <a:srgbClr val="000000"/>
              </a:solidFill>
              <a:latin typeface="Arial" panose="020B0604020202020204" pitchFamily="34" charset="0"/>
              <a:ea typeface="Arial" panose="020B0604020202020204" pitchFamily="34" charset="0"/>
              <a:cs typeface="Arial" panose="020B0604020202020204" pitchFamily="34" charset="0"/>
            </a:endParaRP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Nombre del docente:</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Ing.Francisco Javier Mingo Velásquez</a:t>
            </a:r>
          </a:p>
          <a:p>
            <a:pPr marL="12700" marR="881380" indent="-12700" algn="ctr">
              <a:lnSpc>
                <a:spcPct val="157000"/>
              </a:lnSpc>
              <a:spcAft>
                <a:spcPts val="1390"/>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Nombre del trabajo:4.2</a:t>
            </a:r>
            <a:r>
              <a:rPr lang="es-MX" sz="1400" dirty="0">
                <a:solidFill>
                  <a:srgbClr val="000000"/>
                </a:solidFill>
                <a:latin typeface="Arial" panose="020B0604020202020204" pitchFamily="34" charset="0"/>
                <a:ea typeface="Arial" panose="020B0604020202020204" pitchFamily="34" charset="0"/>
                <a:cs typeface="Arial" panose="020B0604020202020204" pitchFamily="34" charset="0"/>
              </a:rPr>
              <a:t> reporte de practica </a:t>
            </a:r>
            <a:br>
              <a:rPr lang="es-MX" sz="1400" dirty="0">
                <a:solidFill>
                  <a:srgbClr val="000000"/>
                </a:solidFill>
                <a:latin typeface="Arial" panose="020B0604020202020204" pitchFamily="34" charset="0"/>
                <a:ea typeface="Arial" panose="020B0604020202020204" pitchFamily="34" charset="0"/>
                <a:cs typeface="Arial" panose="020B0604020202020204" pitchFamily="34" charset="0"/>
              </a:rPr>
            </a:b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Fecha de entrega</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Frontera Comalapa , Chiapas a </a:t>
            </a:r>
            <a:r>
              <a:rPr lang="es-MX" sz="1400" dirty="0">
                <a:solidFill>
                  <a:srgbClr val="000000"/>
                </a:solidFill>
                <a:latin typeface="Arial" panose="020B0604020202020204" pitchFamily="34" charset="0"/>
                <a:ea typeface="Arial" panose="020B0604020202020204" pitchFamily="34" charset="0"/>
                <a:cs typeface="Arial" panose="020B0604020202020204" pitchFamily="34" charset="0"/>
              </a:rPr>
              <a:t>24</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/05/2026 </a:t>
            </a:r>
            <a:endParaRPr lang="es-MX"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514017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90D377-64BE-4729-91D3-D9F88A4E75B4}"/>
              </a:ext>
            </a:extLst>
          </p:cNvPr>
          <p:cNvSpPr>
            <a:spLocks noGrp="1"/>
          </p:cNvSpPr>
          <p:nvPr>
            <p:ph type="title"/>
          </p:nvPr>
        </p:nvSpPr>
        <p:spPr>
          <a:xfrm>
            <a:off x="913774" y="161317"/>
            <a:ext cx="10364451" cy="672401"/>
          </a:xfrm>
        </p:spPr>
        <p:txBody>
          <a:bodyPr/>
          <a:lstStyle/>
          <a:p>
            <a:r>
              <a:rPr lang="es-MX" b="1" dirty="0">
                <a:latin typeface="Arial" panose="020B0604020202020204" pitchFamily="34" charset="0"/>
                <a:cs typeface="Arial" panose="020B0604020202020204" pitchFamily="34" charset="0"/>
              </a:rPr>
              <a:t>INTRODUCCION </a:t>
            </a:r>
          </a:p>
        </p:txBody>
      </p:sp>
      <p:sp>
        <p:nvSpPr>
          <p:cNvPr id="3" name="Marcador de contenido 2">
            <a:extLst>
              <a:ext uri="{FF2B5EF4-FFF2-40B4-BE49-F238E27FC236}">
                <a16:creationId xmlns:a16="http://schemas.microsoft.com/office/drawing/2014/main" id="{BEAB286D-EC1F-443B-92B2-DA25E0DC0439}"/>
              </a:ext>
            </a:extLst>
          </p:cNvPr>
          <p:cNvSpPr>
            <a:spLocks noGrp="1"/>
          </p:cNvSpPr>
          <p:nvPr>
            <p:ph sz="quarter" idx="13"/>
          </p:nvPr>
        </p:nvSpPr>
        <p:spPr>
          <a:xfrm>
            <a:off x="1792943" y="1542339"/>
            <a:ext cx="8292352" cy="3424107"/>
          </a:xfrm>
        </p:spPr>
        <p:txBody>
          <a:bodyPr>
            <a:normAutofit/>
          </a:bodyPr>
          <a:lstStyle/>
          <a:p>
            <a:pPr marL="0" indent="0" algn="just">
              <a:buNone/>
            </a:pPr>
            <a:r>
              <a:rPr lang="es-MX" sz="1600" cap="none" dirty="0">
                <a:latin typeface="Arial" panose="020B0604020202020204" pitchFamily="34" charset="0"/>
                <a:cs typeface="Arial" panose="020B0604020202020204" pitchFamily="34" charset="0"/>
              </a:rPr>
              <a:t>Durante este reporte de practica  se diseñó una base de datos para una papelería utilizando postgresql y pgadmin. en ella se organizó información importante como clientes, productos, empleados y ventas, con el objetivo de mantener los datos bien estructurados. también se agregaron registros de prueba para comprobar que las tablas funcionaran correctamente y comprender mejor cómo se administra la información de un negocio mediante una base de datos.</a:t>
            </a:r>
          </a:p>
        </p:txBody>
      </p:sp>
    </p:spTree>
    <p:extLst>
      <p:ext uri="{BB962C8B-B14F-4D97-AF65-F5344CB8AC3E}">
        <p14:creationId xmlns:p14="http://schemas.microsoft.com/office/powerpoint/2010/main" val="129720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83207C-9490-46DC-B7B8-4A79CCBA23DC}"/>
              </a:ext>
            </a:extLst>
          </p:cNvPr>
          <p:cNvSpPr>
            <a:spLocks noGrp="1"/>
          </p:cNvSpPr>
          <p:nvPr>
            <p:ph type="title"/>
          </p:nvPr>
        </p:nvSpPr>
        <p:spPr>
          <a:xfrm>
            <a:off x="1864659" y="0"/>
            <a:ext cx="7737167" cy="1264435"/>
          </a:xfrm>
        </p:spPr>
        <p:txBody>
          <a:bodyPr/>
          <a:lstStyle/>
          <a:p>
            <a:r>
              <a:rPr lang="es-MX" b="1" dirty="0">
                <a:latin typeface="Arial" panose="020B0604020202020204" pitchFamily="34" charset="0"/>
                <a:cs typeface="Arial" panose="020B0604020202020204" pitchFamily="34" charset="0"/>
              </a:rPr>
              <a:t>JUSTIFICACION</a:t>
            </a:r>
          </a:p>
        </p:txBody>
      </p:sp>
      <p:sp>
        <p:nvSpPr>
          <p:cNvPr id="3" name="Marcador de contenido 2">
            <a:extLst>
              <a:ext uri="{FF2B5EF4-FFF2-40B4-BE49-F238E27FC236}">
                <a16:creationId xmlns:a16="http://schemas.microsoft.com/office/drawing/2014/main" id="{B79832BA-E3DF-4F8B-ACA7-A7B97C74E4D4}"/>
              </a:ext>
            </a:extLst>
          </p:cNvPr>
          <p:cNvSpPr>
            <a:spLocks noGrp="1"/>
          </p:cNvSpPr>
          <p:nvPr>
            <p:ph sz="quarter" idx="13"/>
          </p:nvPr>
        </p:nvSpPr>
        <p:spPr>
          <a:xfrm>
            <a:off x="1667435" y="1716946"/>
            <a:ext cx="8472273" cy="3424107"/>
          </a:xfrm>
        </p:spPr>
        <p:txBody>
          <a:bodyPr>
            <a:normAutofit/>
          </a:bodyPr>
          <a:lstStyle/>
          <a:p>
            <a:pPr marL="0" indent="0" algn="just">
              <a:buNone/>
            </a:pPr>
            <a:r>
              <a:rPr lang="es-MX" sz="1600" cap="none" dirty="0">
                <a:latin typeface="Arial" panose="020B0604020202020204" pitchFamily="34" charset="0"/>
                <a:cs typeface="Arial" panose="020B0604020202020204" pitchFamily="34" charset="0"/>
              </a:rPr>
              <a:t>Al realizar este reporte de práctica fue importante porque permitió aplicar lo aprendido sobre la creación y administración de bases de datos. al diseñar tablas y registrar información de una papelería, como clientes, productos, empleados y ventas, se comprendió mejor la importancia de tener los datos bien organizados para poder consultarlos, modificarlos y gestionarlos de manera más fácil dentro de un sistema informático.</a:t>
            </a:r>
          </a:p>
        </p:txBody>
      </p:sp>
    </p:spTree>
    <p:extLst>
      <p:ext uri="{BB962C8B-B14F-4D97-AF65-F5344CB8AC3E}">
        <p14:creationId xmlns:p14="http://schemas.microsoft.com/office/powerpoint/2010/main" val="3465415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BBF54859-2F73-4261-902A-EB4181B781CB}"/>
              </a:ext>
            </a:extLst>
          </p:cNvPr>
          <p:cNvPicPr>
            <a:picLocks noChangeAspect="1"/>
          </p:cNvPicPr>
          <p:nvPr/>
        </p:nvPicPr>
        <p:blipFill>
          <a:blip r:embed="rId2"/>
          <a:stretch>
            <a:fillRect/>
          </a:stretch>
        </p:blipFill>
        <p:spPr>
          <a:xfrm>
            <a:off x="3563159" y="135721"/>
            <a:ext cx="4738157" cy="3619145"/>
          </a:xfrm>
          <a:prstGeom prst="rect">
            <a:avLst/>
          </a:prstGeom>
        </p:spPr>
      </p:pic>
      <p:sp>
        <p:nvSpPr>
          <p:cNvPr id="6" name="CuadroTexto 5">
            <a:extLst>
              <a:ext uri="{FF2B5EF4-FFF2-40B4-BE49-F238E27FC236}">
                <a16:creationId xmlns:a16="http://schemas.microsoft.com/office/drawing/2014/main" id="{FFBCAFD8-1C25-4534-A1E7-0F9F1DAD5CAA}"/>
              </a:ext>
            </a:extLst>
          </p:cNvPr>
          <p:cNvSpPr txBox="1"/>
          <p:nvPr/>
        </p:nvSpPr>
        <p:spPr>
          <a:xfrm>
            <a:off x="3433482" y="4025153"/>
            <a:ext cx="5495365" cy="1661993"/>
          </a:xfrm>
          <a:prstGeom prst="rect">
            <a:avLst/>
          </a:prstGeom>
          <a:noFill/>
        </p:spPr>
        <p:txBody>
          <a:bodyPr wrap="square" rtlCol="0">
            <a:spAutoFit/>
          </a:bodyPr>
          <a:lstStyle/>
          <a:p>
            <a:pPr algn="just"/>
            <a:r>
              <a:rPr lang="es-MX" sz="1400" dirty="0">
                <a:latin typeface="Arial" panose="020B0604020202020204" pitchFamily="34" charset="0"/>
                <a:cs typeface="Arial" panose="020B0604020202020204" pitchFamily="34" charset="0"/>
              </a:rPr>
              <a:t>Se realizó la creación de una base de datos llamada Normalización, la cual se usará para trabajar el proceso de organización de datos. En esta práctica primero se manejará información sin normalizar, con la finalidad de encontrar datos repetidos o mal organizados, para después acomodarlos correctamente y lograr una estructura más ordenada y eficiente.</a:t>
            </a:r>
          </a:p>
          <a:p>
            <a:endParaRPr lang="es-MX" dirty="0"/>
          </a:p>
        </p:txBody>
      </p:sp>
    </p:spTree>
    <p:extLst>
      <p:ext uri="{BB962C8B-B14F-4D97-AF65-F5344CB8AC3E}">
        <p14:creationId xmlns:p14="http://schemas.microsoft.com/office/powerpoint/2010/main" val="2677982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9F047909-5B40-42BB-A524-DCF973935AD7}"/>
              </a:ext>
            </a:extLst>
          </p:cNvPr>
          <p:cNvPicPr>
            <a:picLocks noChangeAspect="1"/>
          </p:cNvPicPr>
          <p:nvPr/>
        </p:nvPicPr>
        <p:blipFill>
          <a:blip r:embed="rId2"/>
          <a:stretch>
            <a:fillRect/>
          </a:stretch>
        </p:blipFill>
        <p:spPr>
          <a:xfrm>
            <a:off x="600633" y="195800"/>
            <a:ext cx="4779485" cy="3458423"/>
          </a:xfrm>
          <a:prstGeom prst="rect">
            <a:avLst/>
          </a:prstGeom>
        </p:spPr>
      </p:pic>
      <p:pic>
        <p:nvPicPr>
          <p:cNvPr id="7" name="Imagen 6">
            <a:extLst>
              <a:ext uri="{FF2B5EF4-FFF2-40B4-BE49-F238E27FC236}">
                <a16:creationId xmlns:a16="http://schemas.microsoft.com/office/drawing/2014/main" id="{01E6B6FD-404C-40F8-B479-D0E601D757BF}"/>
              </a:ext>
            </a:extLst>
          </p:cNvPr>
          <p:cNvPicPr>
            <a:picLocks noChangeAspect="1"/>
          </p:cNvPicPr>
          <p:nvPr/>
        </p:nvPicPr>
        <p:blipFill>
          <a:blip r:embed="rId3"/>
          <a:stretch>
            <a:fillRect/>
          </a:stretch>
        </p:blipFill>
        <p:spPr>
          <a:xfrm>
            <a:off x="5726889" y="195800"/>
            <a:ext cx="6258922" cy="4123803"/>
          </a:xfrm>
          <a:prstGeom prst="rect">
            <a:avLst/>
          </a:prstGeom>
        </p:spPr>
      </p:pic>
      <p:sp>
        <p:nvSpPr>
          <p:cNvPr id="8" name="CuadroTexto 7">
            <a:extLst>
              <a:ext uri="{FF2B5EF4-FFF2-40B4-BE49-F238E27FC236}">
                <a16:creationId xmlns:a16="http://schemas.microsoft.com/office/drawing/2014/main" id="{E9092433-B817-4128-9902-7735359BB79C}"/>
              </a:ext>
            </a:extLst>
          </p:cNvPr>
          <p:cNvSpPr txBox="1"/>
          <p:nvPr/>
        </p:nvSpPr>
        <p:spPr>
          <a:xfrm>
            <a:off x="770965" y="4509247"/>
            <a:ext cx="5235388" cy="1384995"/>
          </a:xfrm>
          <a:prstGeom prst="rect">
            <a:avLst/>
          </a:prstGeom>
          <a:noFill/>
        </p:spPr>
        <p:txBody>
          <a:bodyPr wrap="square" rtlCol="0">
            <a:spAutoFit/>
          </a:bodyPr>
          <a:lstStyle/>
          <a:p>
            <a:pPr algn="just"/>
            <a:r>
              <a:rPr lang="es-MX" sz="1400" dirty="0">
                <a:latin typeface="Arial" panose="020B0604020202020204" pitchFamily="34" charset="0"/>
                <a:cs typeface="Arial" panose="020B0604020202020204" pitchFamily="34" charset="0"/>
              </a:rPr>
              <a:t>Después se elaboró la tabla Papelería, donde se guardará la información principal relacionada con los productos y ventas de una papelería. En esta parte, los datos todavía se encuentran reunidos en una sola tabla, lo cual servirá para analizar mejor el proceso de normalización y después organizar la información de forma más clara y eficiente.</a:t>
            </a:r>
          </a:p>
        </p:txBody>
      </p:sp>
    </p:spTree>
    <p:extLst>
      <p:ext uri="{BB962C8B-B14F-4D97-AF65-F5344CB8AC3E}">
        <p14:creationId xmlns:p14="http://schemas.microsoft.com/office/powerpoint/2010/main" val="1414705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ADFC05FD-A8B2-4C63-9F0F-D966E8871422}"/>
              </a:ext>
            </a:extLst>
          </p:cNvPr>
          <p:cNvPicPr>
            <a:picLocks noChangeAspect="1"/>
          </p:cNvPicPr>
          <p:nvPr/>
        </p:nvPicPr>
        <p:blipFill>
          <a:blip r:embed="rId2"/>
          <a:stretch>
            <a:fillRect/>
          </a:stretch>
        </p:blipFill>
        <p:spPr>
          <a:xfrm>
            <a:off x="1786666" y="637037"/>
            <a:ext cx="8618667" cy="5583925"/>
          </a:xfrm>
          <a:prstGeom prst="rect">
            <a:avLst/>
          </a:prstGeom>
        </p:spPr>
      </p:pic>
    </p:spTree>
    <p:extLst>
      <p:ext uri="{BB962C8B-B14F-4D97-AF65-F5344CB8AC3E}">
        <p14:creationId xmlns:p14="http://schemas.microsoft.com/office/powerpoint/2010/main" val="12396159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4778B810-5065-4EFE-B9CC-1854809293EC}"/>
              </a:ext>
            </a:extLst>
          </p:cNvPr>
          <p:cNvPicPr>
            <a:picLocks noChangeAspect="1"/>
          </p:cNvPicPr>
          <p:nvPr/>
        </p:nvPicPr>
        <p:blipFill>
          <a:blip r:embed="rId2"/>
          <a:stretch>
            <a:fillRect/>
          </a:stretch>
        </p:blipFill>
        <p:spPr>
          <a:xfrm>
            <a:off x="4113031" y="0"/>
            <a:ext cx="7986875" cy="4880868"/>
          </a:xfrm>
          <a:prstGeom prst="rect">
            <a:avLst/>
          </a:prstGeom>
        </p:spPr>
      </p:pic>
      <p:sp>
        <p:nvSpPr>
          <p:cNvPr id="6" name="CuadroTexto 5">
            <a:extLst>
              <a:ext uri="{FF2B5EF4-FFF2-40B4-BE49-F238E27FC236}">
                <a16:creationId xmlns:a16="http://schemas.microsoft.com/office/drawing/2014/main" id="{89F235FA-9C85-4004-9E88-143E5A3AAE26}"/>
              </a:ext>
            </a:extLst>
          </p:cNvPr>
          <p:cNvSpPr txBox="1"/>
          <p:nvPr/>
        </p:nvSpPr>
        <p:spPr>
          <a:xfrm>
            <a:off x="340659" y="1613648"/>
            <a:ext cx="3567953" cy="4031873"/>
          </a:xfrm>
          <a:prstGeom prst="rect">
            <a:avLst/>
          </a:prstGeom>
          <a:noFill/>
        </p:spPr>
        <p:txBody>
          <a:bodyPr wrap="square" rtlCol="0">
            <a:spAutoFit/>
          </a:bodyPr>
          <a:lstStyle/>
          <a:p>
            <a:pPr algn="just"/>
            <a:r>
              <a:rPr lang="es-MX" sz="1400" dirty="0">
                <a:latin typeface="Arial" panose="020B0604020202020204" pitchFamily="34" charset="0"/>
                <a:cs typeface="Arial" panose="020B0604020202020204" pitchFamily="34" charset="0"/>
              </a:rPr>
              <a:t>En la tabla aparecen columnas como </a:t>
            </a:r>
            <a:r>
              <a:rPr lang="es-MX" sz="1400" dirty="0" err="1">
                <a:latin typeface="Arial" panose="020B0604020202020204" pitchFamily="34" charset="0"/>
                <a:cs typeface="Arial" panose="020B0604020202020204" pitchFamily="34" charset="0"/>
              </a:rPr>
              <a:t>id_venta</a:t>
            </a:r>
            <a:r>
              <a:rPr lang="es-MX" sz="1400" dirty="0">
                <a:latin typeface="Arial" panose="020B0604020202020204" pitchFamily="34" charset="0"/>
                <a:cs typeface="Arial" panose="020B0604020202020204" pitchFamily="34" charset="0"/>
              </a:rPr>
              <a:t>, cliente, teléfono, dirección, producto, categoría y precio. Esto significa que se está guardando información de los clientes que compraron, el producto adquirido, el tipo de producto y el costo correspondiente.</a:t>
            </a:r>
          </a:p>
          <a:p>
            <a:pPr algn="just"/>
            <a:r>
              <a:rPr lang="es-MX" sz="1400" dirty="0">
                <a:latin typeface="Arial" panose="020B0604020202020204" pitchFamily="34" charset="0"/>
                <a:cs typeface="Arial" panose="020B0604020202020204" pitchFamily="34" charset="0"/>
              </a:rPr>
              <a:t>hay varios registros agregados, por ejemplo productos como tijeras escolares, hojas blancas, folder manila, corrector, libreta, compás, sacapuntas, cartulina, papel bond y lapicero negro. Estos datos sirven para simular el funcionamiento de una papelería y analizar cómo la información se encuentra concentrada en una sola tabla antes de aplicar el proceso de normalización.</a:t>
            </a:r>
          </a:p>
          <a:p>
            <a:pPr algn="just"/>
            <a:endParaRPr lang="es-MX" dirty="0"/>
          </a:p>
        </p:txBody>
      </p:sp>
    </p:spTree>
    <p:extLst>
      <p:ext uri="{BB962C8B-B14F-4D97-AF65-F5344CB8AC3E}">
        <p14:creationId xmlns:p14="http://schemas.microsoft.com/office/powerpoint/2010/main" val="1027797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A7038360-192C-4234-88E9-984A192C9296}"/>
              </a:ext>
            </a:extLst>
          </p:cNvPr>
          <p:cNvPicPr>
            <a:picLocks noChangeAspect="1"/>
          </p:cNvPicPr>
          <p:nvPr/>
        </p:nvPicPr>
        <p:blipFill>
          <a:blip r:embed="rId2"/>
          <a:stretch>
            <a:fillRect/>
          </a:stretch>
        </p:blipFill>
        <p:spPr>
          <a:xfrm>
            <a:off x="806965" y="2023719"/>
            <a:ext cx="3405998" cy="2619998"/>
          </a:xfrm>
          <a:prstGeom prst="rect">
            <a:avLst/>
          </a:prstGeom>
        </p:spPr>
      </p:pic>
      <p:sp>
        <p:nvSpPr>
          <p:cNvPr id="6" name="CuadroTexto 5">
            <a:extLst>
              <a:ext uri="{FF2B5EF4-FFF2-40B4-BE49-F238E27FC236}">
                <a16:creationId xmlns:a16="http://schemas.microsoft.com/office/drawing/2014/main" id="{266A4377-DFE3-44C7-A94B-3EC13E003FC5}"/>
              </a:ext>
            </a:extLst>
          </p:cNvPr>
          <p:cNvSpPr txBox="1"/>
          <p:nvPr/>
        </p:nvSpPr>
        <p:spPr>
          <a:xfrm>
            <a:off x="5029200" y="1846729"/>
            <a:ext cx="5871882" cy="2862322"/>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Las tablas son: Clientes, Empleados, </a:t>
            </a:r>
            <a:r>
              <a:rPr lang="es-MX" dirty="0" err="1">
                <a:latin typeface="Arial" panose="020B0604020202020204" pitchFamily="34" charset="0"/>
                <a:cs typeface="Arial" panose="020B0604020202020204" pitchFamily="34" charset="0"/>
              </a:rPr>
              <a:t>Papeleria</a:t>
            </a:r>
            <a:r>
              <a:rPr lang="es-MX" dirty="0">
                <a:latin typeface="Arial" panose="020B0604020202020204" pitchFamily="34" charset="0"/>
                <a:cs typeface="Arial" panose="020B0604020202020204" pitchFamily="34" charset="0"/>
              </a:rPr>
              <a:t>, Producto y Ventas.</a:t>
            </a:r>
          </a:p>
          <a:p>
            <a:pPr algn="just"/>
            <a:r>
              <a:rPr lang="es-MX" dirty="0">
                <a:latin typeface="Arial" panose="020B0604020202020204" pitchFamily="34" charset="0"/>
                <a:cs typeface="Arial" panose="020B0604020202020204" pitchFamily="34" charset="0"/>
              </a:rPr>
              <a:t>Esto representa una base de datos más organizada, ya que la información ya no está concentrada en una sola tabla. Ahora los datos se separan según su función: los clientes guardan la información de las personas que compran, los empleados registran al personal, los productos almacenan los artículos de la papelería y las ventas relacionan las compras realizadas.</a:t>
            </a:r>
          </a:p>
          <a:p>
            <a:endParaRPr lang="es-MX" dirty="0"/>
          </a:p>
        </p:txBody>
      </p:sp>
    </p:spTree>
    <p:extLst>
      <p:ext uri="{BB962C8B-B14F-4D97-AF65-F5344CB8AC3E}">
        <p14:creationId xmlns:p14="http://schemas.microsoft.com/office/powerpoint/2010/main" val="936409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F1ABB7-1CE2-4A9B-870E-51831C8B46CD}"/>
              </a:ext>
            </a:extLst>
          </p:cNvPr>
          <p:cNvSpPr>
            <a:spLocks noGrp="1"/>
          </p:cNvSpPr>
          <p:nvPr>
            <p:ph type="title"/>
          </p:nvPr>
        </p:nvSpPr>
        <p:spPr>
          <a:xfrm>
            <a:off x="438646" y="71670"/>
            <a:ext cx="10364451" cy="1596177"/>
          </a:xfrm>
        </p:spPr>
        <p:txBody>
          <a:bodyPr/>
          <a:lstStyle/>
          <a:p>
            <a:r>
              <a:rPr lang="es-MX" b="1" dirty="0"/>
              <a:t>CONCLUSION </a:t>
            </a:r>
          </a:p>
        </p:txBody>
      </p:sp>
      <p:sp>
        <p:nvSpPr>
          <p:cNvPr id="3" name="Marcador de contenido 2">
            <a:extLst>
              <a:ext uri="{FF2B5EF4-FFF2-40B4-BE49-F238E27FC236}">
                <a16:creationId xmlns:a16="http://schemas.microsoft.com/office/drawing/2014/main" id="{C8CA1477-16CE-4489-9986-F62D85A341E9}"/>
              </a:ext>
            </a:extLst>
          </p:cNvPr>
          <p:cNvSpPr>
            <a:spLocks noGrp="1"/>
          </p:cNvSpPr>
          <p:nvPr>
            <p:ph sz="quarter" idx="13"/>
          </p:nvPr>
        </p:nvSpPr>
        <p:spPr>
          <a:xfrm>
            <a:off x="2353235" y="1945341"/>
            <a:ext cx="7485530" cy="3944470"/>
          </a:xfrm>
        </p:spPr>
        <p:txBody>
          <a:bodyPr>
            <a:noAutofit/>
          </a:bodyPr>
          <a:lstStyle/>
          <a:p>
            <a:pPr marL="0" indent="0" algn="just">
              <a:buNone/>
            </a:pPr>
            <a:r>
              <a:rPr lang="es-MX" sz="1600" cap="none" dirty="0">
                <a:latin typeface="Arial" panose="020B0604020202020204" pitchFamily="34" charset="0"/>
                <a:cs typeface="Arial" panose="020B0604020202020204" pitchFamily="34" charset="0"/>
              </a:rPr>
              <a:t>Este reporte de practica ayudó a aplicar los conocimientos sobre el manejo de bases de datos en postgresql. durante la actividad se crearon varias tablas para una papelería, donde se almacenó información de clientes, productos, empleados y ventas. gracias a esto, se pudo comprender mejor cómo organizar, guardar y consultar datos dentro de un sistema, representando el funcionamiento básico de un negocio real.</a:t>
            </a:r>
          </a:p>
        </p:txBody>
      </p:sp>
    </p:spTree>
    <p:extLst>
      <p:ext uri="{BB962C8B-B14F-4D97-AF65-F5344CB8AC3E}">
        <p14:creationId xmlns:p14="http://schemas.microsoft.com/office/powerpoint/2010/main" val="1680900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4C9806-5376-4B14-8070-8AB15311E163}"/>
              </a:ext>
            </a:extLst>
          </p:cNvPr>
          <p:cNvSpPr>
            <a:spLocks noGrp="1"/>
          </p:cNvSpPr>
          <p:nvPr>
            <p:ph type="title"/>
          </p:nvPr>
        </p:nvSpPr>
        <p:spPr/>
        <p:txBody>
          <a:bodyPr/>
          <a:lstStyle/>
          <a:p>
            <a:r>
              <a:rPr lang="es-MX" dirty="0">
                <a:solidFill>
                  <a:schemeClr val="tx1"/>
                </a:solidFill>
              </a:rPr>
              <a:t>ANEXO LINK DE LA ACTIVIDAD SOLICITADA Y SUBIDA A GITHUB</a:t>
            </a:r>
            <a:endParaRPr lang="es-MX" dirty="0"/>
          </a:p>
        </p:txBody>
      </p:sp>
      <p:sp>
        <p:nvSpPr>
          <p:cNvPr id="3" name="Marcador de contenido 2">
            <a:extLst>
              <a:ext uri="{FF2B5EF4-FFF2-40B4-BE49-F238E27FC236}">
                <a16:creationId xmlns:a16="http://schemas.microsoft.com/office/drawing/2014/main" id="{296BD6C2-2854-48A7-BA6A-48D2BB73F130}"/>
              </a:ext>
            </a:extLst>
          </p:cNvPr>
          <p:cNvSpPr>
            <a:spLocks noGrp="1"/>
          </p:cNvSpPr>
          <p:nvPr>
            <p:ph sz="quarter" idx="13"/>
          </p:nvPr>
        </p:nvSpPr>
        <p:spPr/>
        <p:txBody>
          <a:bodyPr/>
          <a:lstStyle/>
          <a:p>
            <a:r>
              <a:rPr lang="es-MX"/>
              <a:t>https://github.com/lopezramirezsimone-cyber/FBD.git</a:t>
            </a:r>
          </a:p>
        </p:txBody>
      </p:sp>
    </p:spTree>
    <p:extLst>
      <p:ext uri="{BB962C8B-B14F-4D97-AF65-F5344CB8AC3E}">
        <p14:creationId xmlns:p14="http://schemas.microsoft.com/office/powerpoint/2010/main" val="377625952"/>
      </p:ext>
    </p:extLst>
  </p:cSld>
  <p:clrMapOvr>
    <a:masterClrMapping/>
  </p:clrMapOvr>
</p:sld>
</file>

<file path=ppt/theme/theme1.xml><?xml version="1.0" encoding="utf-8"?>
<a:theme xmlns:a="http://schemas.openxmlformats.org/drawingml/2006/main" name="Gota">
  <a:themeElements>
    <a:clrScheme name="Verde azulado">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Gota">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ólidos sutile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78000"/>
                <a:shade val="100000"/>
                <a:hueMod val="136000"/>
                <a:satMod val="160000"/>
                <a:lumMod val="105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C71B277C-C29A-4BA0-A7BA-43502DF21AB3}"/>
    </a:ext>
  </a:extLst>
</a:theme>
</file>

<file path=docProps/app.xml><?xml version="1.0" encoding="utf-8"?>
<Properties xmlns="http://schemas.openxmlformats.org/officeDocument/2006/extended-properties" xmlns:vt="http://schemas.openxmlformats.org/officeDocument/2006/docPropsVTypes">
  <Template>Gota</Template>
  <TotalTime>568</TotalTime>
  <Words>620</Words>
  <Application>Microsoft Office PowerPoint</Application>
  <PresentationFormat>Panorámica</PresentationFormat>
  <Paragraphs>23</Paragraphs>
  <Slides>10</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10</vt:i4>
      </vt:variant>
    </vt:vector>
  </HeadingPairs>
  <TitlesOfParts>
    <vt:vector size="13" baseType="lpstr">
      <vt:lpstr>Arial</vt:lpstr>
      <vt:lpstr>Tw Cen MT</vt:lpstr>
      <vt:lpstr>Gota</vt:lpstr>
      <vt:lpstr>Presentación de PowerPoint</vt:lpstr>
      <vt:lpstr>INTRODUCCION </vt:lpstr>
      <vt:lpstr>JUSTIFICACION</vt:lpstr>
      <vt:lpstr>Presentación de PowerPoint</vt:lpstr>
      <vt:lpstr>Presentación de PowerPoint</vt:lpstr>
      <vt:lpstr>Presentación de PowerPoint</vt:lpstr>
      <vt:lpstr>Presentación de PowerPoint</vt:lpstr>
      <vt:lpstr>Presentación de PowerPoint</vt:lpstr>
      <vt:lpstr>CONCLUSION </vt:lpstr>
      <vt:lpstr>ANEXO LINK DE LA ACTIVIDAD SOLICITADA Y SUBIDA A GITHUB</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Belen</dc:creator>
  <cp:lastModifiedBy>Belen</cp:lastModifiedBy>
  <cp:revision>44</cp:revision>
  <dcterms:created xsi:type="dcterms:W3CDTF">2026-05-05T12:16:48Z</dcterms:created>
  <dcterms:modified xsi:type="dcterms:W3CDTF">2026-06-07T13:06:09Z</dcterms:modified>
</cp:coreProperties>
</file>