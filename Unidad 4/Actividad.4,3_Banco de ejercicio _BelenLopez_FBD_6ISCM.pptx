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84" r:id="rId5"/>
    <p:sldId id="285" r:id="rId6"/>
    <p:sldId id="286" r:id="rId7"/>
    <p:sldId id="287" r:id="rId8"/>
    <p:sldId id="288" r:id="rId9"/>
    <p:sldId id="289" r:id="rId10"/>
    <p:sldId id="282" r:id="rId11"/>
    <p:sldId id="283"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25" autoAdjust="0"/>
    <p:restoredTop sz="94660"/>
  </p:normalViewPr>
  <p:slideViewPr>
    <p:cSldViewPr snapToGrid="0">
      <p:cViewPr varScale="1">
        <p:scale>
          <a:sx n="85" d="100"/>
          <a:sy n="85" d="100"/>
        </p:scale>
        <p:origin x="61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07/06/2026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429623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07/06/2026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564148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4A96757-7141-4220-9764-81AAB9E5A4B0}" type="datetimeFigureOut">
              <a:rPr lang="es-MX" smtClean="0"/>
              <a:t>07/06/2026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426097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531380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913774" y="3051012"/>
            <a:ext cx="5106027"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6172200" y="3051012"/>
            <a:ext cx="5105401"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4A96757-7141-4220-9764-81AAB9E5A4B0}" type="datetimeFigureOut">
              <a:rPr lang="es-MX" smtClean="0"/>
              <a:t>07/06/2026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024973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4A96757-7141-4220-9764-81AAB9E5A4B0}" type="datetimeFigureOut">
              <a:rPr lang="es-MX" smtClean="0"/>
              <a:t>07/06/2026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735487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84A96757-7141-4220-9764-81AAB9E5A4B0}" type="datetimeFigureOut">
              <a:rPr lang="es-MX" smtClean="0"/>
              <a:t>07/06/2026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033649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985659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726875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967342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1419290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418330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2916926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84A96757-7141-4220-9764-81AAB9E5A4B0}" type="datetimeFigureOut">
              <a:rPr lang="es-MX" smtClean="0"/>
              <a:t>07/06/2026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6890802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84A96757-7141-4220-9764-81AAB9E5A4B0}" type="datetimeFigureOut">
              <a:rPr lang="es-MX" smtClean="0"/>
              <a:t>07/06/2026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7051299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07/06/2026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6258012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07/06/2026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089557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84A96757-7141-4220-9764-81AAB9E5A4B0}" type="datetimeFigureOut">
              <a:rPr lang="es-MX" smtClean="0"/>
              <a:t>07/06/2026</a:t>
            </a:fld>
            <a:endParaRPr lang="es-MX"/>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s-MX"/>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3472C795-96C6-460C-922D-97DFDDCB5C3A}" type="slidenum">
              <a:rPr lang="es-MX" smtClean="0"/>
              <a:t>‹Nº›</a:t>
            </a:fld>
            <a:endParaRPr lang="es-MX"/>
          </a:p>
        </p:txBody>
      </p:sp>
    </p:spTree>
    <p:extLst>
      <p:ext uri="{BB962C8B-B14F-4D97-AF65-F5344CB8AC3E}">
        <p14:creationId xmlns:p14="http://schemas.microsoft.com/office/powerpoint/2010/main" val="195735419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FDB4996-25A1-4C8B-9C3A-C6F4190D51FF}"/>
              </a:ext>
            </a:extLst>
          </p:cNvPr>
          <p:cNvPicPr>
            <a:picLocks noChangeAspect="1"/>
          </p:cNvPicPr>
          <p:nvPr/>
        </p:nvPicPr>
        <p:blipFill rotWithShape="1">
          <a:blip r:embed="rId2"/>
          <a:srcRect l="6551" t="37365" r="5073"/>
          <a:stretch/>
        </p:blipFill>
        <p:spPr>
          <a:xfrm>
            <a:off x="1290918" y="751864"/>
            <a:ext cx="10040471" cy="726922"/>
          </a:xfrm>
          <a:prstGeom prst="rect">
            <a:avLst/>
          </a:prstGeom>
        </p:spPr>
      </p:pic>
      <p:sp>
        <p:nvSpPr>
          <p:cNvPr id="5" name="CuadroTexto 4">
            <a:extLst>
              <a:ext uri="{FF2B5EF4-FFF2-40B4-BE49-F238E27FC236}">
                <a16:creationId xmlns:a16="http://schemas.microsoft.com/office/drawing/2014/main" id="{74CA5DC0-9F7F-45E1-A2A4-76C139FCCAC5}"/>
              </a:ext>
            </a:extLst>
          </p:cNvPr>
          <p:cNvSpPr txBox="1"/>
          <p:nvPr/>
        </p:nvSpPr>
        <p:spPr>
          <a:xfrm>
            <a:off x="2052918" y="1605776"/>
            <a:ext cx="7440705" cy="3466911"/>
          </a:xfrm>
          <a:prstGeom prst="rect">
            <a:avLst/>
          </a:prstGeom>
          <a:noFill/>
        </p:spPr>
        <p:txBody>
          <a:bodyPr wrap="square" rtlCol="0">
            <a:spAutoFit/>
          </a:bodyPr>
          <a:lstStyle/>
          <a:p>
            <a:pPr marL="12700" marR="1219200" indent="-12700" algn="ctr">
              <a:lnSpc>
                <a:spcPct val="107000"/>
              </a:lnSpc>
              <a:spcAft>
                <a:spcPts val="1115"/>
              </a:spcAft>
            </a:pPr>
            <a:r>
              <a:rPr lang="es-MX" sz="11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Instituto Tecnológico de Frontera Comalapa</a:t>
            </a:r>
          </a:p>
          <a:p>
            <a:pPr marL="12700" marR="1219200" indent="-12700" algn="ctr">
              <a:lnSpc>
                <a:spcPct val="107000"/>
              </a:lnSpc>
              <a:spcAft>
                <a:spcPts val="111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Modalidad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Mixta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Materia: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s-MX" sz="1400" dirty="0">
                <a:solidFill>
                  <a:srgbClr val="000000"/>
                </a:solidFill>
                <a:latin typeface="Arial" panose="020B0604020202020204" pitchFamily="34" charset="0"/>
                <a:ea typeface="Arial" panose="020B0604020202020204" pitchFamily="34" charset="0"/>
                <a:cs typeface="Arial" panose="020B0604020202020204" pitchFamily="34" charset="0"/>
              </a:rPr>
              <a:t>Fundamentos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de base de datos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Semestre: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Sexto semestre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Especialidad:</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Ingeniería en Sistemas Computacionales.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Numero de control: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231260010  </a:t>
            </a:r>
            <a:endParaRPr lang="es-MX" sz="1400"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alumno:</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Simone Belén López Ramírez</a:t>
            </a: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endParaRPr lang="es-MX" sz="1400"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docente:</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Ing.Francisco Javier Mingo Velásquez</a:t>
            </a:r>
          </a:p>
          <a:p>
            <a:pPr marL="12700" marR="881380" indent="-12700" algn="ctr">
              <a:lnSpc>
                <a:spcPct val="157000"/>
              </a:lnSpc>
              <a:spcAft>
                <a:spcPts val="1390"/>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Nombre del trabajo:4.3 Reporte de practica </a:t>
            </a:r>
            <a:br>
              <a:rPr lang="es-MX" sz="1400" dirty="0">
                <a:solidFill>
                  <a:srgbClr val="000000"/>
                </a:solidFill>
                <a:latin typeface="Arial" panose="020B0604020202020204" pitchFamily="34" charset="0"/>
                <a:ea typeface="Arial" panose="020B0604020202020204" pitchFamily="34" charset="0"/>
                <a:cs typeface="Arial" panose="020B0604020202020204" pitchFamily="34" charset="0"/>
              </a:rPr>
            </a:b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Fecha de entrega</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Frontera Comalapa , Chiapas a </a:t>
            </a:r>
            <a:r>
              <a:rPr lang="es-MX" sz="1400" dirty="0">
                <a:solidFill>
                  <a:srgbClr val="000000"/>
                </a:solidFill>
                <a:latin typeface="Arial" panose="020B0604020202020204" pitchFamily="34" charset="0"/>
                <a:ea typeface="Arial" panose="020B0604020202020204" pitchFamily="34" charset="0"/>
                <a:cs typeface="Arial" panose="020B0604020202020204" pitchFamily="34" charset="0"/>
              </a:rPr>
              <a:t>29</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/05/2026 </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1401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90D377-64BE-4729-91D3-D9F88A4E75B4}"/>
              </a:ext>
            </a:extLst>
          </p:cNvPr>
          <p:cNvSpPr>
            <a:spLocks noGrp="1"/>
          </p:cNvSpPr>
          <p:nvPr>
            <p:ph type="title"/>
          </p:nvPr>
        </p:nvSpPr>
        <p:spPr>
          <a:xfrm>
            <a:off x="913774" y="161317"/>
            <a:ext cx="10364451" cy="672401"/>
          </a:xfrm>
        </p:spPr>
        <p:txBody>
          <a:bodyPr/>
          <a:lstStyle/>
          <a:p>
            <a:r>
              <a:rPr lang="es-MX" b="1" dirty="0">
                <a:latin typeface="Arial" panose="020B0604020202020204" pitchFamily="34" charset="0"/>
                <a:cs typeface="Arial" panose="020B0604020202020204" pitchFamily="34" charset="0"/>
              </a:rPr>
              <a:t>INTRODUCCION </a:t>
            </a:r>
          </a:p>
        </p:txBody>
      </p:sp>
      <p:sp>
        <p:nvSpPr>
          <p:cNvPr id="3" name="Marcador de contenido 2">
            <a:extLst>
              <a:ext uri="{FF2B5EF4-FFF2-40B4-BE49-F238E27FC236}">
                <a16:creationId xmlns:a16="http://schemas.microsoft.com/office/drawing/2014/main" id="{BEAB286D-EC1F-443B-92B2-DA25E0DC0439}"/>
              </a:ext>
            </a:extLst>
          </p:cNvPr>
          <p:cNvSpPr>
            <a:spLocks noGrp="1"/>
          </p:cNvSpPr>
          <p:nvPr>
            <p:ph sz="quarter" idx="13"/>
          </p:nvPr>
        </p:nvSpPr>
        <p:spPr>
          <a:xfrm>
            <a:off x="1792943" y="1542339"/>
            <a:ext cx="8292352" cy="3424107"/>
          </a:xfrm>
        </p:spPr>
        <p:txBody>
          <a:bodyPr>
            <a:normAutofit/>
          </a:bodyPr>
          <a:lstStyle/>
          <a:p>
            <a:pPr marL="0" indent="0" algn="just">
              <a:buNone/>
            </a:pPr>
            <a:r>
              <a:rPr lang="es-MX" sz="1600" cap="none" dirty="0">
                <a:latin typeface="Arial" panose="020B0604020202020204" pitchFamily="34" charset="0"/>
                <a:cs typeface="Arial" panose="020B0604020202020204" pitchFamily="34" charset="0"/>
              </a:rPr>
              <a:t>Se trabajó en el diseño de una base de datos para una papelería, utilizando postgresql y pgadmin. la información se organizó en diferentes tablas, como clientes, productos, empleados y ventas, para mantener los datos de forma clara y ordenada. además, se ingresaron registros de prueba para verificar que cada tabla funcionara correctamente y comprender mejor cómo se administra la información de un negocio dentro de una base de datos.</a:t>
            </a:r>
          </a:p>
        </p:txBody>
      </p:sp>
    </p:spTree>
    <p:extLst>
      <p:ext uri="{BB962C8B-B14F-4D97-AF65-F5344CB8AC3E}">
        <p14:creationId xmlns:p14="http://schemas.microsoft.com/office/powerpoint/2010/main" val="129720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83207C-9490-46DC-B7B8-4A79CCBA23DC}"/>
              </a:ext>
            </a:extLst>
          </p:cNvPr>
          <p:cNvSpPr>
            <a:spLocks noGrp="1"/>
          </p:cNvSpPr>
          <p:nvPr>
            <p:ph type="title"/>
          </p:nvPr>
        </p:nvSpPr>
        <p:spPr>
          <a:xfrm>
            <a:off x="1864659" y="0"/>
            <a:ext cx="7737167" cy="1264435"/>
          </a:xfrm>
        </p:spPr>
        <p:txBody>
          <a:bodyPr/>
          <a:lstStyle/>
          <a:p>
            <a:r>
              <a:rPr lang="es-MX" b="1" dirty="0">
                <a:latin typeface="Arial" panose="020B0604020202020204" pitchFamily="34" charset="0"/>
                <a:cs typeface="Arial" panose="020B0604020202020204" pitchFamily="34" charset="0"/>
              </a:rPr>
              <a:t>JUSTIFICACION</a:t>
            </a:r>
          </a:p>
        </p:txBody>
      </p:sp>
      <p:sp>
        <p:nvSpPr>
          <p:cNvPr id="3" name="Marcador de contenido 2">
            <a:extLst>
              <a:ext uri="{FF2B5EF4-FFF2-40B4-BE49-F238E27FC236}">
                <a16:creationId xmlns:a16="http://schemas.microsoft.com/office/drawing/2014/main" id="{B79832BA-E3DF-4F8B-ACA7-A7B97C74E4D4}"/>
              </a:ext>
            </a:extLst>
          </p:cNvPr>
          <p:cNvSpPr>
            <a:spLocks noGrp="1"/>
          </p:cNvSpPr>
          <p:nvPr>
            <p:ph sz="quarter" idx="13"/>
          </p:nvPr>
        </p:nvSpPr>
        <p:spPr>
          <a:xfrm>
            <a:off x="1667435" y="1716946"/>
            <a:ext cx="8472273" cy="3424107"/>
          </a:xfrm>
        </p:spPr>
        <p:txBody>
          <a:bodyPr>
            <a:normAutofit/>
          </a:bodyPr>
          <a:lstStyle/>
          <a:p>
            <a:pPr marL="0" indent="0" algn="just">
              <a:buNone/>
            </a:pPr>
            <a:r>
              <a:rPr lang="es-MX" sz="1400" cap="none" dirty="0">
                <a:latin typeface="Arial" panose="020B0604020202020204" pitchFamily="34" charset="0"/>
                <a:cs typeface="Arial" panose="020B0604020202020204" pitchFamily="34" charset="0"/>
              </a:rPr>
              <a:t>Este banco de ejercicio fue útil porque permitió reforzar los conocimientos sobre cómo crear y administrar una base de datos. al elaborar tablas para una papelería y registrar información de clientes, productos, empleados y ventas, se logró entender mejor la importancia de mantener los datos ordenados. esto facilita que la información pueda consultarse, actualizarse y manejarse de forma más sencilla dentro de un sistema informático.</a:t>
            </a:r>
          </a:p>
        </p:txBody>
      </p:sp>
    </p:spTree>
    <p:extLst>
      <p:ext uri="{BB962C8B-B14F-4D97-AF65-F5344CB8AC3E}">
        <p14:creationId xmlns:p14="http://schemas.microsoft.com/office/powerpoint/2010/main" val="3465415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BF54859-2F73-4261-902A-EB4181B781CB}"/>
              </a:ext>
            </a:extLst>
          </p:cNvPr>
          <p:cNvPicPr>
            <a:picLocks noChangeAspect="1"/>
          </p:cNvPicPr>
          <p:nvPr/>
        </p:nvPicPr>
        <p:blipFill>
          <a:blip r:embed="rId2"/>
          <a:stretch>
            <a:fillRect/>
          </a:stretch>
        </p:blipFill>
        <p:spPr>
          <a:xfrm>
            <a:off x="1151653" y="332945"/>
            <a:ext cx="4738157" cy="3619145"/>
          </a:xfrm>
          <a:prstGeom prst="rect">
            <a:avLst/>
          </a:prstGeom>
        </p:spPr>
      </p:pic>
      <p:sp>
        <p:nvSpPr>
          <p:cNvPr id="6" name="CuadroTexto 5">
            <a:extLst>
              <a:ext uri="{FF2B5EF4-FFF2-40B4-BE49-F238E27FC236}">
                <a16:creationId xmlns:a16="http://schemas.microsoft.com/office/drawing/2014/main" id="{FFBCAFD8-1C25-4534-A1E7-0F9F1DAD5CAA}"/>
              </a:ext>
            </a:extLst>
          </p:cNvPr>
          <p:cNvSpPr txBox="1"/>
          <p:nvPr/>
        </p:nvSpPr>
        <p:spPr>
          <a:xfrm>
            <a:off x="851646" y="4078941"/>
            <a:ext cx="5495365" cy="1600438"/>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Se creó una base de datos llamada Normalización, la cual servirá para realizar la práctica sobre la organización de información. En esta actividad primero se trabajará con datos sin ordenar correctamente, para identificar información repetida o mal estructurada. Después, esos datos se acomodarán en diferentes tablas con el fin de obtener una base de datos más clara, ordenada y eficiente.</a:t>
            </a:r>
          </a:p>
        </p:txBody>
      </p:sp>
      <p:pic>
        <p:nvPicPr>
          <p:cNvPr id="4" name="Imagen 3">
            <a:extLst>
              <a:ext uri="{FF2B5EF4-FFF2-40B4-BE49-F238E27FC236}">
                <a16:creationId xmlns:a16="http://schemas.microsoft.com/office/drawing/2014/main" id="{ABABF169-EFA4-456E-847B-3D82F2ECD440}"/>
              </a:ext>
            </a:extLst>
          </p:cNvPr>
          <p:cNvPicPr>
            <a:picLocks noChangeAspect="1"/>
          </p:cNvPicPr>
          <p:nvPr/>
        </p:nvPicPr>
        <p:blipFill>
          <a:blip r:embed="rId3"/>
          <a:stretch>
            <a:fillRect/>
          </a:stretch>
        </p:blipFill>
        <p:spPr>
          <a:xfrm>
            <a:off x="6490444" y="413305"/>
            <a:ext cx="4779485" cy="3458423"/>
          </a:xfrm>
          <a:prstGeom prst="rect">
            <a:avLst/>
          </a:prstGeom>
        </p:spPr>
      </p:pic>
      <p:sp>
        <p:nvSpPr>
          <p:cNvPr id="2" name="CuadroTexto 1">
            <a:extLst>
              <a:ext uri="{FF2B5EF4-FFF2-40B4-BE49-F238E27FC236}">
                <a16:creationId xmlns:a16="http://schemas.microsoft.com/office/drawing/2014/main" id="{DAFBA769-7F15-4EF4-9FC7-3936D934C6D6}"/>
              </a:ext>
            </a:extLst>
          </p:cNvPr>
          <p:cNvSpPr txBox="1"/>
          <p:nvPr/>
        </p:nvSpPr>
        <p:spPr>
          <a:xfrm>
            <a:off x="6786282" y="4222376"/>
            <a:ext cx="5325036" cy="1384995"/>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Más adelante se creó la tabla Papelería, en la cual se almacenó la información principal sobre los clientes, productos y ventas de una papelería. En esta etapa, todos los datos se mantienen juntos en una sola tabla, lo que permite observar mejor cómo está organizada la información antes de separarla y aplicar el proceso de normalización.</a:t>
            </a:r>
          </a:p>
        </p:txBody>
      </p:sp>
    </p:spTree>
    <p:extLst>
      <p:ext uri="{BB962C8B-B14F-4D97-AF65-F5344CB8AC3E}">
        <p14:creationId xmlns:p14="http://schemas.microsoft.com/office/powerpoint/2010/main" val="2677982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722A8A6-591B-40A2-81DC-50B8D0D8B9ED}"/>
              </a:ext>
            </a:extLst>
          </p:cNvPr>
          <p:cNvPicPr>
            <a:picLocks noChangeAspect="1"/>
          </p:cNvPicPr>
          <p:nvPr/>
        </p:nvPicPr>
        <p:blipFill>
          <a:blip r:embed="rId2"/>
          <a:stretch>
            <a:fillRect/>
          </a:stretch>
        </p:blipFill>
        <p:spPr>
          <a:xfrm>
            <a:off x="5316071" y="960754"/>
            <a:ext cx="5504450" cy="4184854"/>
          </a:xfrm>
          <a:prstGeom prst="rect">
            <a:avLst/>
          </a:prstGeom>
        </p:spPr>
      </p:pic>
      <p:sp>
        <p:nvSpPr>
          <p:cNvPr id="6" name="CuadroTexto 5">
            <a:extLst>
              <a:ext uri="{FF2B5EF4-FFF2-40B4-BE49-F238E27FC236}">
                <a16:creationId xmlns:a16="http://schemas.microsoft.com/office/drawing/2014/main" id="{6FA60F54-F942-4A4B-85A0-5DC02C0AE02C}"/>
              </a:ext>
            </a:extLst>
          </p:cNvPr>
          <p:cNvSpPr txBox="1"/>
          <p:nvPr/>
        </p:nvSpPr>
        <p:spPr>
          <a:xfrm>
            <a:off x="770965" y="1434353"/>
            <a:ext cx="3926541" cy="2954655"/>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En esa tabla se guardan datos generales como el cliente, teléfono, dirección, producto, categoría y precio.</a:t>
            </a:r>
          </a:p>
          <a:p>
            <a:pPr algn="just"/>
            <a:r>
              <a:rPr lang="es-MX" sz="1400" dirty="0">
                <a:latin typeface="Arial" panose="020B0604020202020204" pitchFamily="34" charset="0"/>
                <a:cs typeface="Arial" panose="020B0604020202020204" pitchFamily="34" charset="0"/>
              </a:rPr>
              <a:t>también se observa que después de crear la tabla se insertan varios registros con información de ejemplo, como cuadernos, lápices, plumas, borradores, carpetas y otros productos de papelería. estos datos sirven para simular ventas o registros dentro del negocio.</a:t>
            </a:r>
          </a:p>
          <a:p>
            <a:pPr algn="just"/>
            <a:r>
              <a:rPr lang="es-MX" sz="1400" dirty="0">
                <a:latin typeface="Arial" panose="020B0604020202020204" pitchFamily="34" charset="0"/>
                <a:cs typeface="Arial" panose="020B0604020202020204" pitchFamily="34" charset="0"/>
              </a:rPr>
              <a:t>en pocas palabras, la imagen representa una tabla todavía no normalizada, porque toda la información está junta en un solo lugar.</a:t>
            </a:r>
          </a:p>
          <a:p>
            <a:endParaRPr lang="es-MX" dirty="0"/>
          </a:p>
        </p:txBody>
      </p:sp>
    </p:spTree>
    <p:extLst>
      <p:ext uri="{BB962C8B-B14F-4D97-AF65-F5344CB8AC3E}">
        <p14:creationId xmlns:p14="http://schemas.microsoft.com/office/powerpoint/2010/main" val="2587695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3F4E880F-DAEA-4D6A-9A58-572985794E48}"/>
              </a:ext>
            </a:extLst>
          </p:cNvPr>
          <p:cNvPicPr>
            <a:picLocks noChangeAspect="1"/>
          </p:cNvPicPr>
          <p:nvPr/>
        </p:nvPicPr>
        <p:blipFill>
          <a:blip r:embed="rId2"/>
          <a:stretch>
            <a:fillRect/>
          </a:stretch>
        </p:blipFill>
        <p:spPr>
          <a:xfrm>
            <a:off x="4993341" y="1656248"/>
            <a:ext cx="6871903" cy="3545504"/>
          </a:xfrm>
          <a:prstGeom prst="rect">
            <a:avLst/>
          </a:prstGeom>
        </p:spPr>
      </p:pic>
      <p:sp>
        <p:nvSpPr>
          <p:cNvPr id="6" name="CuadroTexto 5">
            <a:extLst>
              <a:ext uri="{FF2B5EF4-FFF2-40B4-BE49-F238E27FC236}">
                <a16:creationId xmlns:a16="http://schemas.microsoft.com/office/drawing/2014/main" id="{D9F63B05-FD77-4A9F-8BEB-D733A23DE34F}"/>
              </a:ext>
            </a:extLst>
          </p:cNvPr>
          <p:cNvSpPr txBox="1"/>
          <p:nvPr/>
        </p:nvSpPr>
        <p:spPr>
          <a:xfrm>
            <a:off x="188259" y="1656248"/>
            <a:ext cx="4491318" cy="3754874"/>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la tabla </a:t>
            </a:r>
            <a:r>
              <a:rPr lang="es-MX" sz="1400" dirty="0" err="1">
                <a:latin typeface="Arial" panose="020B0604020202020204" pitchFamily="34" charset="0"/>
                <a:cs typeface="Arial" panose="020B0604020202020204" pitchFamily="34" charset="0"/>
              </a:rPr>
              <a:t>Papeleria</a:t>
            </a:r>
            <a:r>
              <a:rPr lang="es-MX" sz="1400" dirty="0">
                <a:latin typeface="Arial" panose="020B0604020202020204" pitchFamily="34" charset="0"/>
                <a:cs typeface="Arial" panose="020B0604020202020204" pitchFamily="34" charset="0"/>
              </a:rPr>
              <a:t> dentro de </a:t>
            </a:r>
            <a:r>
              <a:rPr lang="es-MX" sz="1400" dirty="0" err="1">
                <a:latin typeface="Arial" panose="020B0604020202020204" pitchFamily="34" charset="0"/>
                <a:cs typeface="Arial" panose="020B0604020202020204" pitchFamily="34" charset="0"/>
              </a:rPr>
              <a:t>pgAdmin</a:t>
            </a:r>
            <a:r>
              <a:rPr lang="es-MX" sz="1400" dirty="0">
                <a:latin typeface="Arial" panose="020B0604020202020204" pitchFamily="34" charset="0"/>
                <a:cs typeface="Arial" panose="020B0604020202020204" pitchFamily="34" charset="0"/>
              </a:rPr>
              <a:t>, donde ya se encuentran registrados varios datos relacionados con una papelería.</a:t>
            </a:r>
          </a:p>
          <a:p>
            <a:pPr algn="just"/>
            <a:r>
              <a:rPr lang="es-MX" sz="1400" dirty="0">
                <a:latin typeface="Arial" panose="020B0604020202020204" pitchFamily="34" charset="0"/>
                <a:cs typeface="Arial" panose="020B0604020202020204" pitchFamily="34" charset="0"/>
              </a:rPr>
              <a:t>En la tabla aparecen columnas como </a:t>
            </a:r>
            <a:r>
              <a:rPr lang="es-MX" sz="1400" dirty="0" err="1">
                <a:latin typeface="Arial" panose="020B0604020202020204" pitchFamily="34" charset="0"/>
                <a:cs typeface="Arial" panose="020B0604020202020204" pitchFamily="34" charset="0"/>
              </a:rPr>
              <a:t>id_venta</a:t>
            </a:r>
            <a:r>
              <a:rPr lang="es-MX" sz="1400" dirty="0">
                <a:latin typeface="Arial" panose="020B0604020202020204" pitchFamily="34" charset="0"/>
                <a:cs typeface="Arial" panose="020B0604020202020204" pitchFamily="34" charset="0"/>
              </a:rPr>
              <a:t>, cliente, teléfono, dirección, producto, categoría y precio. Esto significa que se está guardando en una sola tabla la información del cliente que realizó la compra, el producto que adquirió, el tipo de producto y el costo correspondiente.</a:t>
            </a:r>
          </a:p>
          <a:p>
            <a:pPr algn="just"/>
            <a:r>
              <a:rPr lang="es-MX" sz="1400" dirty="0">
                <a:latin typeface="Arial" panose="020B0604020202020204" pitchFamily="34" charset="0"/>
                <a:cs typeface="Arial" panose="020B0604020202020204" pitchFamily="34" charset="0"/>
              </a:rPr>
              <a:t>productos como tijeras escolares, hojas blancas, folder manila, corrector, libreta, compás, sacapuntas, cartulina blanca y papel bond. Estos registros sirven como datos de prueba para representar el funcionamiento de una papelería y posteriormente analizar cómo se puede organizar mejor la información mediante la normalización</a:t>
            </a:r>
          </a:p>
          <a:p>
            <a:endParaRPr lang="es-MX" sz="1400" dirty="0"/>
          </a:p>
        </p:txBody>
      </p:sp>
    </p:spTree>
    <p:extLst>
      <p:ext uri="{BB962C8B-B14F-4D97-AF65-F5344CB8AC3E}">
        <p14:creationId xmlns:p14="http://schemas.microsoft.com/office/powerpoint/2010/main" val="1704582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8BEA893-23F8-4211-B9E6-8375716FDAA4}"/>
              </a:ext>
            </a:extLst>
          </p:cNvPr>
          <p:cNvPicPr>
            <a:picLocks noChangeAspect="1"/>
          </p:cNvPicPr>
          <p:nvPr/>
        </p:nvPicPr>
        <p:blipFill>
          <a:blip r:embed="rId2"/>
          <a:stretch>
            <a:fillRect/>
          </a:stretch>
        </p:blipFill>
        <p:spPr>
          <a:xfrm>
            <a:off x="1286622" y="747649"/>
            <a:ext cx="2843227" cy="1484563"/>
          </a:xfrm>
          <a:prstGeom prst="rect">
            <a:avLst/>
          </a:prstGeom>
        </p:spPr>
      </p:pic>
      <p:sp>
        <p:nvSpPr>
          <p:cNvPr id="5" name="CuadroTexto 4">
            <a:extLst>
              <a:ext uri="{FF2B5EF4-FFF2-40B4-BE49-F238E27FC236}">
                <a16:creationId xmlns:a16="http://schemas.microsoft.com/office/drawing/2014/main" id="{F6306583-CFC7-4E7A-8AF8-E0FCBE24E8C4}"/>
              </a:ext>
            </a:extLst>
          </p:cNvPr>
          <p:cNvSpPr txBox="1"/>
          <p:nvPr/>
        </p:nvSpPr>
        <p:spPr>
          <a:xfrm>
            <a:off x="4589929" y="690283"/>
            <a:ext cx="4428565" cy="1815882"/>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la tabla Papelería ya con los datos registrados dentro de </a:t>
            </a:r>
            <a:r>
              <a:rPr lang="es-MX" sz="1400" dirty="0" err="1">
                <a:latin typeface="Arial" panose="020B0604020202020204" pitchFamily="34" charset="0"/>
                <a:cs typeface="Arial" panose="020B0604020202020204" pitchFamily="34" charset="0"/>
              </a:rPr>
              <a:t>pgAdmin</a:t>
            </a:r>
            <a:r>
              <a:rPr lang="es-MX" sz="1400" dirty="0">
                <a:latin typeface="Arial" panose="020B0604020202020204" pitchFamily="34" charset="0"/>
                <a:cs typeface="Arial" panose="020B0604020202020204" pitchFamily="34" charset="0"/>
              </a:rPr>
              <a:t>. La tabla contiene información como el número de venta, nombre del cliente, teléfono, dirección, producto comprado, categoría y precio. Estos registros representan compras realizadas en una papelería y sirven como ejemplo para observar cómo los datos están concentrados en una sola tabla antes de aplicar la normalización.</a:t>
            </a:r>
          </a:p>
        </p:txBody>
      </p:sp>
      <p:pic>
        <p:nvPicPr>
          <p:cNvPr id="6" name="Imagen 5">
            <a:extLst>
              <a:ext uri="{FF2B5EF4-FFF2-40B4-BE49-F238E27FC236}">
                <a16:creationId xmlns:a16="http://schemas.microsoft.com/office/drawing/2014/main" id="{B52A85C5-0F0E-4682-8993-CB348C47C0B2}"/>
              </a:ext>
            </a:extLst>
          </p:cNvPr>
          <p:cNvPicPr>
            <a:picLocks noChangeAspect="1"/>
          </p:cNvPicPr>
          <p:nvPr/>
        </p:nvPicPr>
        <p:blipFill>
          <a:blip r:embed="rId3"/>
          <a:stretch>
            <a:fillRect/>
          </a:stretch>
        </p:blipFill>
        <p:spPr>
          <a:xfrm>
            <a:off x="503892" y="3129700"/>
            <a:ext cx="5045261" cy="1928332"/>
          </a:xfrm>
          <a:prstGeom prst="rect">
            <a:avLst/>
          </a:prstGeom>
        </p:spPr>
      </p:pic>
      <p:sp>
        <p:nvSpPr>
          <p:cNvPr id="7" name="CuadroTexto 6">
            <a:extLst>
              <a:ext uri="{FF2B5EF4-FFF2-40B4-BE49-F238E27FC236}">
                <a16:creationId xmlns:a16="http://schemas.microsoft.com/office/drawing/2014/main" id="{5E488C98-94CC-4F1E-9FEF-780BD7494686}"/>
              </a:ext>
            </a:extLst>
          </p:cNvPr>
          <p:cNvSpPr txBox="1"/>
          <p:nvPr/>
        </p:nvSpPr>
        <p:spPr>
          <a:xfrm>
            <a:off x="5773271" y="3129700"/>
            <a:ext cx="5316071" cy="2246769"/>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En esta parte se agregaron restricciones de llave foránea para relacionar las tablas de la base de datos. La tabla Ventas se conectó con Clientes, Productos y Empleados, para que cada venta registrada tenga relación con un cliente existente, un producto vendido y un empleado responsable. También la tabla Inventario se relacionó con Productos, permitiendo controlar que el inventario corresponda a productos previamente registrados. Esto ayuda a mantener la información ordenada, evitar errores y asegurar que los datos estén correctamente vinculados dentro del sistema</a:t>
            </a:r>
          </a:p>
        </p:txBody>
      </p:sp>
    </p:spTree>
    <p:extLst>
      <p:ext uri="{BB962C8B-B14F-4D97-AF65-F5344CB8AC3E}">
        <p14:creationId xmlns:p14="http://schemas.microsoft.com/office/powerpoint/2010/main" val="3310710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F999B92-3DC2-41D5-9E66-5CA9C1A1D17B}"/>
              </a:ext>
            </a:extLst>
          </p:cNvPr>
          <p:cNvPicPr>
            <a:picLocks noChangeAspect="1"/>
          </p:cNvPicPr>
          <p:nvPr/>
        </p:nvPicPr>
        <p:blipFill rotWithShape="1">
          <a:blip r:embed="rId2"/>
          <a:srcRect t="13231" b="9635"/>
          <a:stretch/>
        </p:blipFill>
        <p:spPr>
          <a:xfrm>
            <a:off x="4679975" y="1783977"/>
            <a:ext cx="6958322" cy="2626658"/>
          </a:xfrm>
          <a:prstGeom prst="rect">
            <a:avLst/>
          </a:prstGeom>
        </p:spPr>
      </p:pic>
      <p:sp>
        <p:nvSpPr>
          <p:cNvPr id="5" name="CuadroTexto 4">
            <a:extLst>
              <a:ext uri="{FF2B5EF4-FFF2-40B4-BE49-F238E27FC236}">
                <a16:creationId xmlns:a16="http://schemas.microsoft.com/office/drawing/2014/main" id="{0D97CCFE-387C-470D-AA84-B2D662A91AFD}"/>
              </a:ext>
            </a:extLst>
          </p:cNvPr>
          <p:cNvSpPr txBox="1"/>
          <p:nvPr/>
        </p:nvSpPr>
        <p:spPr>
          <a:xfrm>
            <a:off x="869577" y="1541930"/>
            <a:ext cx="3361764" cy="3293209"/>
          </a:xfrm>
          <a:prstGeom prst="rect">
            <a:avLst/>
          </a:prstGeom>
          <a:noFill/>
        </p:spPr>
        <p:txBody>
          <a:bodyPr wrap="square" rtlCol="0">
            <a:spAutoFit/>
          </a:bodyPr>
          <a:lstStyle/>
          <a:p>
            <a:pPr algn="just"/>
            <a:r>
              <a:rPr lang="es-MX" sz="1600" dirty="0">
                <a:latin typeface="Arial" panose="020B0604020202020204" pitchFamily="34" charset="0"/>
                <a:cs typeface="Arial" panose="020B0604020202020204" pitchFamily="34" charset="0"/>
              </a:rPr>
              <a:t>En el diagrama se observan las tablas principales, como Clientes, Empleados, Productos, Inventario y Ventas. Cada tabla guarda información diferente: Clientes almacena los datos de las personas que compran, Empleados registra al personal que trabaja en la papelería, Productos contiene los artículos disponibles, Inventario ayuda a controlar las existencias y Ventas guarda las compras realizadas.</a:t>
            </a:r>
          </a:p>
        </p:txBody>
      </p:sp>
    </p:spTree>
    <p:extLst>
      <p:ext uri="{BB962C8B-B14F-4D97-AF65-F5344CB8AC3E}">
        <p14:creationId xmlns:p14="http://schemas.microsoft.com/office/powerpoint/2010/main" val="2468022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3DBF1133-27A1-4EA3-BC73-CFE9347500DC}"/>
              </a:ext>
            </a:extLst>
          </p:cNvPr>
          <p:cNvPicPr>
            <a:picLocks noChangeAspect="1"/>
          </p:cNvPicPr>
          <p:nvPr/>
        </p:nvPicPr>
        <p:blipFill>
          <a:blip r:embed="rId2"/>
          <a:stretch>
            <a:fillRect/>
          </a:stretch>
        </p:blipFill>
        <p:spPr>
          <a:xfrm>
            <a:off x="1506070" y="874446"/>
            <a:ext cx="8390136" cy="4624781"/>
          </a:xfrm>
          <a:prstGeom prst="rect">
            <a:avLst/>
          </a:prstGeom>
        </p:spPr>
      </p:pic>
    </p:spTree>
    <p:extLst>
      <p:ext uri="{BB962C8B-B14F-4D97-AF65-F5344CB8AC3E}">
        <p14:creationId xmlns:p14="http://schemas.microsoft.com/office/powerpoint/2010/main" val="826773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F1ABB7-1CE2-4A9B-870E-51831C8B46CD}"/>
              </a:ext>
            </a:extLst>
          </p:cNvPr>
          <p:cNvSpPr>
            <a:spLocks noGrp="1"/>
          </p:cNvSpPr>
          <p:nvPr>
            <p:ph type="title"/>
          </p:nvPr>
        </p:nvSpPr>
        <p:spPr>
          <a:xfrm>
            <a:off x="438646" y="71670"/>
            <a:ext cx="10364451" cy="1596177"/>
          </a:xfrm>
        </p:spPr>
        <p:txBody>
          <a:bodyPr/>
          <a:lstStyle/>
          <a:p>
            <a:r>
              <a:rPr lang="es-MX" b="1" dirty="0"/>
              <a:t>CONCLUSION </a:t>
            </a:r>
          </a:p>
        </p:txBody>
      </p:sp>
      <p:sp>
        <p:nvSpPr>
          <p:cNvPr id="3" name="Marcador de contenido 2">
            <a:extLst>
              <a:ext uri="{FF2B5EF4-FFF2-40B4-BE49-F238E27FC236}">
                <a16:creationId xmlns:a16="http://schemas.microsoft.com/office/drawing/2014/main" id="{C8CA1477-16CE-4489-9986-F62D85A341E9}"/>
              </a:ext>
            </a:extLst>
          </p:cNvPr>
          <p:cNvSpPr>
            <a:spLocks noGrp="1"/>
          </p:cNvSpPr>
          <p:nvPr>
            <p:ph sz="quarter" idx="13"/>
          </p:nvPr>
        </p:nvSpPr>
        <p:spPr>
          <a:xfrm>
            <a:off x="2353235" y="1945341"/>
            <a:ext cx="7485530" cy="3944470"/>
          </a:xfrm>
        </p:spPr>
        <p:txBody>
          <a:bodyPr>
            <a:noAutofit/>
          </a:bodyPr>
          <a:lstStyle/>
          <a:p>
            <a:pPr marL="0" indent="0" algn="just">
              <a:buNone/>
            </a:pPr>
            <a:r>
              <a:rPr lang="es-MX" sz="1600" cap="none" dirty="0">
                <a:latin typeface="Arial" panose="020B0604020202020204" pitchFamily="34" charset="0"/>
                <a:cs typeface="Arial" panose="020B0604020202020204" pitchFamily="34" charset="0"/>
              </a:rPr>
              <a:t>Permitió fortalecer lo aprendido sobre el uso de bases de datos en postgresql. durante el desarrollo se diseñaron distintas tablas para una papelería, donde se registró información sobre clientes, productos, empleados y ventas. con esto se logró entender mejor la forma en que los datos se almacenan, se organizan y se consultan dentro de un sistema, tomando como ejemplo el funcionamiento de un negocio real.</a:t>
            </a:r>
          </a:p>
        </p:txBody>
      </p:sp>
    </p:spTree>
    <p:extLst>
      <p:ext uri="{BB962C8B-B14F-4D97-AF65-F5344CB8AC3E}">
        <p14:creationId xmlns:p14="http://schemas.microsoft.com/office/powerpoint/2010/main" val="16809002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4C9806-5376-4B14-8070-8AB15311E163}"/>
              </a:ext>
            </a:extLst>
          </p:cNvPr>
          <p:cNvSpPr>
            <a:spLocks noGrp="1"/>
          </p:cNvSpPr>
          <p:nvPr>
            <p:ph type="title"/>
          </p:nvPr>
        </p:nvSpPr>
        <p:spPr/>
        <p:txBody>
          <a:bodyPr/>
          <a:lstStyle/>
          <a:p>
            <a:r>
              <a:rPr lang="es-MX" dirty="0">
                <a:solidFill>
                  <a:schemeClr val="tx1"/>
                </a:solidFill>
              </a:rPr>
              <a:t>ANEXO LINK DE LA ACTIVIDAD SOLICITADA Y SUBIDA A GITHUB</a:t>
            </a:r>
            <a:endParaRPr lang="es-MX" dirty="0"/>
          </a:p>
        </p:txBody>
      </p:sp>
      <p:sp>
        <p:nvSpPr>
          <p:cNvPr id="3" name="Marcador de contenido 2">
            <a:extLst>
              <a:ext uri="{FF2B5EF4-FFF2-40B4-BE49-F238E27FC236}">
                <a16:creationId xmlns:a16="http://schemas.microsoft.com/office/drawing/2014/main" id="{296BD6C2-2854-48A7-BA6A-48D2BB73F130}"/>
              </a:ext>
            </a:extLst>
          </p:cNvPr>
          <p:cNvSpPr>
            <a:spLocks noGrp="1"/>
          </p:cNvSpPr>
          <p:nvPr>
            <p:ph sz="quarter" idx="13"/>
          </p:nvPr>
        </p:nvSpPr>
        <p:spPr/>
        <p:txBody>
          <a:bodyPr/>
          <a:lstStyle/>
          <a:p>
            <a:r>
              <a:rPr lang="es-MX"/>
              <a:t>https://github.com/lopezramirezsimone-cyber/FBD.git</a:t>
            </a:r>
          </a:p>
        </p:txBody>
      </p:sp>
    </p:spTree>
    <p:extLst>
      <p:ext uri="{BB962C8B-B14F-4D97-AF65-F5344CB8AC3E}">
        <p14:creationId xmlns:p14="http://schemas.microsoft.com/office/powerpoint/2010/main" val="377625952"/>
      </p:ext>
    </p:extLst>
  </p:cSld>
  <p:clrMapOvr>
    <a:masterClrMapping/>
  </p:clrMapOvr>
</p:sld>
</file>

<file path=ppt/theme/theme1.xml><?xml version="1.0" encoding="utf-8"?>
<a:theme xmlns:a="http://schemas.openxmlformats.org/drawingml/2006/main" name="Gota">
  <a:themeElements>
    <a:clrScheme name="Intermedio">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Got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ólidos sutile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C71B277C-C29A-4BA0-A7BA-43502DF21AB3}"/>
    </a:ext>
  </a:extLst>
</a:theme>
</file>

<file path=docProps/app.xml><?xml version="1.0" encoding="utf-8"?>
<Properties xmlns="http://schemas.openxmlformats.org/officeDocument/2006/extended-properties" xmlns:vt="http://schemas.openxmlformats.org/officeDocument/2006/docPropsVTypes">
  <Template>Gota</Template>
  <TotalTime>594</TotalTime>
  <Words>887</Words>
  <Application>Microsoft Office PowerPoint</Application>
  <PresentationFormat>Panorámica</PresentationFormat>
  <Paragraphs>28</Paragraphs>
  <Slides>11</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11</vt:i4>
      </vt:variant>
    </vt:vector>
  </HeadingPairs>
  <TitlesOfParts>
    <vt:vector size="14" baseType="lpstr">
      <vt:lpstr>Arial</vt:lpstr>
      <vt:lpstr>Tw Cen MT</vt:lpstr>
      <vt:lpstr>Gota</vt:lpstr>
      <vt:lpstr>Presentación de PowerPoint</vt:lpstr>
      <vt:lpstr>INTRODUCCION </vt:lpstr>
      <vt:lpstr>JUSTIFICACION</vt:lpstr>
      <vt:lpstr>Presentación de PowerPoint</vt:lpstr>
      <vt:lpstr>Presentación de PowerPoint</vt:lpstr>
      <vt:lpstr>Presentación de PowerPoint</vt:lpstr>
      <vt:lpstr>Presentación de PowerPoint</vt:lpstr>
      <vt:lpstr>Presentación de PowerPoint</vt:lpstr>
      <vt:lpstr>Presentación de PowerPoint</vt:lpstr>
      <vt:lpstr>CONCLUSION </vt:lpstr>
      <vt:lpstr>ANEXO LINK DE LA ACTIVIDAD SOLICITADA Y SUBIDA A GITHUB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Belen</dc:creator>
  <cp:lastModifiedBy>Belen</cp:lastModifiedBy>
  <cp:revision>47</cp:revision>
  <dcterms:created xsi:type="dcterms:W3CDTF">2026-05-05T12:16:48Z</dcterms:created>
  <dcterms:modified xsi:type="dcterms:W3CDTF">2026-06-07T13:34:05Z</dcterms:modified>
</cp:coreProperties>
</file>