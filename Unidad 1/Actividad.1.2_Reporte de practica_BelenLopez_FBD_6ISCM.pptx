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05/05/2026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212182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05/05/2026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575207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4A96757-7141-4220-9764-81AAB9E5A4B0}" type="datetimeFigureOut">
              <a:rPr lang="es-MX" smtClean="0"/>
              <a:t>05/05/2026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982383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4A96757-7141-4220-9764-81AAB9E5A4B0}" type="datetimeFigureOut">
              <a:rPr lang="es-MX" smtClean="0"/>
              <a:t>05/05/2026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247258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4A96757-7141-4220-9764-81AAB9E5A4B0}" type="datetimeFigureOut">
              <a:rPr lang="es-MX" smtClean="0"/>
              <a:t>05/05/2026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594480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4A96757-7141-4220-9764-81AAB9E5A4B0}" type="datetimeFigureOut">
              <a:rPr lang="es-MX" smtClean="0"/>
              <a:t>05/05/2026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188116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84A96757-7141-4220-9764-81AAB9E5A4B0}" type="datetimeFigureOut">
              <a:rPr lang="es-MX" smtClean="0"/>
              <a:t>05/05/2026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477035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05/05/2026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22067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05/05/2026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195852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05/05/2026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154176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05/05/2026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45582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05/05/2026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57572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4A96757-7141-4220-9764-81AAB9E5A4B0}" type="datetimeFigureOut">
              <a:rPr lang="es-MX" smtClean="0"/>
              <a:t>05/05/2026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064029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05/05/2026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508305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84A96757-7141-4220-9764-81AAB9E5A4B0}" type="datetimeFigureOut">
              <a:rPr lang="es-MX" smtClean="0"/>
              <a:t>05/05/2026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1235781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05/05/2026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26485665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4A96757-7141-4220-9764-81AAB9E5A4B0}" type="datetimeFigureOut">
              <a:rPr lang="es-MX" smtClean="0"/>
              <a:t>05/05/2026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472C795-96C6-460C-922D-97DFDDCB5C3A}" type="slidenum">
              <a:rPr lang="es-MX" smtClean="0"/>
              <a:t>‹Nº›</a:t>
            </a:fld>
            <a:endParaRPr lang="es-MX"/>
          </a:p>
        </p:txBody>
      </p:sp>
    </p:spTree>
    <p:extLst>
      <p:ext uri="{BB962C8B-B14F-4D97-AF65-F5344CB8AC3E}">
        <p14:creationId xmlns:p14="http://schemas.microsoft.com/office/powerpoint/2010/main" val="3135182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4A96757-7141-4220-9764-81AAB9E5A4B0}" type="datetimeFigureOut">
              <a:rPr lang="es-MX" smtClean="0"/>
              <a:t>05/05/2026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3472C795-96C6-460C-922D-97DFDDCB5C3A}" type="slidenum">
              <a:rPr lang="es-MX" smtClean="0"/>
              <a:t>‹Nº›</a:t>
            </a:fld>
            <a:endParaRPr lang="es-MX"/>
          </a:p>
        </p:txBody>
      </p:sp>
    </p:spTree>
    <p:extLst>
      <p:ext uri="{BB962C8B-B14F-4D97-AF65-F5344CB8AC3E}">
        <p14:creationId xmlns:p14="http://schemas.microsoft.com/office/powerpoint/2010/main" val="199463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FDB4996-25A1-4C8B-9C3A-C6F4190D51FF}"/>
              </a:ext>
            </a:extLst>
          </p:cNvPr>
          <p:cNvPicPr>
            <a:picLocks noChangeAspect="1"/>
          </p:cNvPicPr>
          <p:nvPr/>
        </p:nvPicPr>
        <p:blipFill rotWithShape="1">
          <a:blip r:embed="rId2"/>
          <a:srcRect l="6551" t="37365" r="5073"/>
          <a:stretch/>
        </p:blipFill>
        <p:spPr>
          <a:xfrm>
            <a:off x="1272988" y="877760"/>
            <a:ext cx="10040471" cy="726922"/>
          </a:xfrm>
          <a:prstGeom prst="rect">
            <a:avLst/>
          </a:prstGeom>
        </p:spPr>
      </p:pic>
      <p:sp>
        <p:nvSpPr>
          <p:cNvPr id="5" name="CuadroTexto 4">
            <a:extLst>
              <a:ext uri="{FF2B5EF4-FFF2-40B4-BE49-F238E27FC236}">
                <a16:creationId xmlns:a16="http://schemas.microsoft.com/office/drawing/2014/main" id="{74CA5DC0-9F7F-45E1-A2A4-76C139FCCAC5}"/>
              </a:ext>
            </a:extLst>
          </p:cNvPr>
          <p:cNvSpPr txBox="1"/>
          <p:nvPr/>
        </p:nvSpPr>
        <p:spPr>
          <a:xfrm>
            <a:off x="3155576" y="1478786"/>
            <a:ext cx="7440705" cy="3646447"/>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Instituto Tecnológico de Frontera Comalapa</a:t>
            </a:r>
          </a:p>
          <a:p>
            <a:pPr marL="12700" marR="1219200" indent="-12700" algn="ctr">
              <a:lnSpc>
                <a:spcPct val="107000"/>
              </a:lnSpc>
              <a:spcAft>
                <a:spcPts val="111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Fundamentos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de base de datos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Reporte de practica 1.2 </a:t>
            </a: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Frontera Comalapa , Chiapas a 19 de abril del  2026 </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1401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0D377-64BE-4729-91D3-D9F88A4E75B4}"/>
              </a:ext>
            </a:extLst>
          </p:cNvPr>
          <p:cNvSpPr>
            <a:spLocks noGrp="1"/>
          </p:cNvSpPr>
          <p:nvPr>
            <p:ph type="title"/>
          </p:nvPr>
        </p:nvSpPr>
        <p:spPr>
          <a:xfrm>
            <a:off x="913774" y="161317"/>
            <a:ext cx="10364451" cy="672401"/>
          </a:xfrm>
        </p:spPr>
        <p:txBody>
          <a:bodyPr/>
          <a:lstStyle/>
          <a:p>
            <a:r>
              <a:rPr lang="es-MX" b="1" dirty="0">
                <a:latin typeface="Arial" panose="020B0604020202020204" pitchFamily="34" charset="0"/>
                <a:cs typeface="Arial" panose="020B0604020202020204" pitchFamily="34" charset="0"/>
              </a:rPr>
              <a:t>INTRODUCCION </a:t>
            </a:r>
          </a:p>
        </p:txBody>
      </p:sp>
      <p:sp>
        <p:nvSpPr>
          <p:cNvPr id="3" name="Marcador de contenido 2">
            <a:extLst>
              <a:ext uri="{FF2B5EF4-FFF2-40B4-BE49-F238E27FC236}">
                <a16:creationId xmlns:a16="http://schemas.microsoft.com/office/drawing/2014/main" id="{BEAB286D-EC1F-443B-92B2-DA25E0DC0439}"/>
              </a:ext>
            </a:extLst>
          </p:cNvPr>
          <p:cNvSpPr>
            <a:spLocks noGrp="1"/>
          </p:cNvSpPr>
          <p:nvPr>
            <p:ph sz="quarter" idx="13"/>
          </p:nvPr>
        </p:nvSpPr>
        <p:spPr>
          <a:xfrm>
            <a:off x="1819209" y="1407869"/>
            <a:ext cx="8373661" cy="3424107"/>
          </a:xfrm>
        </p:spPr>
        <p:txBody>
          <a:bodyPr>
            <a:normAutofit/>
          </a:bodyPr>
          <a:lstStyle/>
          <a:p>
            <a:pPr marL="0" indent="0" algn="just">
              <a:buNone/>
            </a:pPr>
            <a:r>
              <a:rPr lang="es-MX" sz="1600" dirty="0">
                <a:latin typeface="Arial" panose="020B0604020202020204" pitchFamily="34" charset="0"/>
                <a:cs typeface="Arial" panose="020B0604020202020204" pitchFamily="34" charset="0"/>
              </a:rPr>
              <a:t>los Sistemas Gestores de Bases de Datos (SGBD) son herramientas esenciales para almacenar, organizar y administrar grandes volúmenes de información de manera eficiente. En la presente práctica se llevó a cabo la instalación y configuración del gestor pgAdmin, así como la creación de una base de datos y tablas dentro de PostgreSQL.</a:t>
            </a:r>
          </a:p>
          <a:p>
            <a:pPr marL="0" indent="0">
              <a:buNone/>
            </a:pPr>
            <a:r>
              <a:rPr lang="es-MX" sz="1600" dirty="0">
                <a:latin typeface="Arial" panose="020B0604020202020204" pitchFamily="34" charset="0"/>
                <a:cs typeface="Arial" panose="020B0604020202020204" pitchFamily="34" charset="0"/>
              </a:rPr>
              <a:t>El desarrollo de esta actividad permitió comprender paso a paso el funcionamiento de un SGBD, desde su instalación hasta la manipulación de datos. </a:t>
            </a:r>
          </a:p>
          <a:p>
            <a:endParaRPr lang="es-MX" dirty="0"/>
          </a:p>
        </p:txBody>
      </p:sp>
    </p:spTree>
    <p:extLst>
      <p:ext uri="{BB962C8B-B14F-4D97-AF65-F5344CB8AC3E}">
        <p14:creationId xmlns:p14="http://schemas.microsoft.com/office/powerpoint/2010/main" val="129720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83207C-9490-46DC-B7B8-4A79CCBA23DC}"/>
              </a:ext>
            </a:extLst>
          </p:cNvPr>
          <p:cNvSpPr>
            <a:spLocks noGrp="1"/>
          </p:cNvSpPr>
          <p:nvPr>
            <p:ph type="title"/>
          </p:nvPr>
        </p:nvSpPr>
        <p:spPr>
          <a:xfrm>
            <a:off x="1864659" y="0"/>
            <a:ext cx="7737167" cy="1264435"/>
          </a:xfrm>
        </p:spPr>
        <p:txBody>
          <a:bodyPr/>
          <a:lstStyle/>
          <a:p>
            <a:r>
              <a:rPr lang="es-MX" b="1" dirty="0">
                <a:latin typeface="Arial" panose="020B0604020202020204" pitchFamily="34" charset="0"/>
                <a:cs typeface="Arial" panose="020B0604020202020204" pitchFamily="34" charset="0"/>
              </a:rPr>
              <a:t>JUSTIFICACION</a:t>
            </a:r>
          </a:p>
        </p:txBody>
      </p:sp>
      <p:sp>
        <p:nvSpPr>
          <p:cNvPr id="3" name="Marcador de contenido 2">
            <a:extLst>
              <a:ext uri="{FF2B5EF4-FFF2-40B4-BE49-F238E27FC236}">
                <a16:creationId xmlns:a16="http://schemas.microsoft.com/office/drawing/2014/main" id="{B79832BA-E3DF-4F8B-ACA7-A7B97C74E4D4}"/>
              </a:ext>
            </a:extLst>
          </p:cNvPr>
          <p:cNvSpPr>
            <a:spLocks noGrp="1"/>
          </p:cNvSpPr>
          <p:nvPr>
            <p:ph sz="quarter" idx="13"/>
          </p:nvPr>
        </p:nvSpPr>
        <p:spPr>
          <a:xfrm>
            <a:off x="1971922" y="1524409"/>
            <a:ext cx="8248155" cy="3424107"/>
          </a:xfrm>
        </p:spPr>
        <p:txBody>
          <a:bodyPr/>
          <a:lstStyle/>
          <a:p>
            <a:pPr marL="0" indent="0" algn="just">
              <a:buNone/>
            </a:pPr>
            <a:r>
              <a:rPr lang="es-MX" sz="1800" dirty="0">
                <a:latin typeface="Arial" panose="020B0604020202020204" pitchFamily="34" charset="0"/>
                <a:cs typeface="Arial" panose="020B0604020202020204" pitchFamily="34" charset="0"/>
              </a:rPr>
              <a:t>a realización de esta práctica es importante porque permite adquirir conocimientos prácticos sobre el uso de herramientas reales utilizadas en el manejo de bases de datos, como pgAdmin y PostgreSQL.</a:t>
            </a:r>
          </a:p>
          <a:p>
            <a:pPr marL="0" indent="0" algn="just">
              <a:buNone/>
            </a:pPr>
            <a:r>
              <a:rPr lang="es-MX" sz="1800" dirty="0">
                <a:latin typeface="Arial" panose="020B0604020202020204" pitchFamily="34" charset="0"/>
                <a:cs typeface="Arial" panose="020B0604020202020204" pitchFamily="34" charset="0"/>
              </a:rPr>
              <a:t>Además, contribuye a fortalecer habilidades necesarias en el área de desarrollo de software, tales como la creación de bases de datos, diseño de tablas y registro de información. </a:t>
            </a:r>
          </a:p>
          <a:p>
            <a:endParaRPr lang="es-MX" dirty="0"/>
          </a:p>
        </p:txBody>
      </p:sp>
    </p:spTree>
    <p:extLst>
      <p:ext uri="{BB962C8B-B14F-4D97-AF65-F5344CB8AC3E}">
        <p14:creationId xmlns:p14="http://schemas.microsoft.com/office/powerpoint/2010/main" val="3465415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935AF5-56E4-4D8C-9381-B7E7D3BBB0BE}"/>
              </a:ext>
            </a:extLst>
          </p:cNvPr>
          <p:cNvSpPr>
            <a:spLocks noGrp="1"/>
          </p:cNvSpPr>
          <p:nvPr>
            <p:ph type="title"/>
          </p:nvPr>
        </p:nvSpPr>
        <p:spPr>
          <a:xfrm>
            <a:off x="6624293" y="3657553"/>
            <a:ext cx="4097496" cy="1891600"/>
          </a:xfrm>
        </p:spPr>
        <p:txBody>
          <a:bodyPr>
            <a:noAutofit/>
          </a:bodyPr>
          <a:lstStyle/>
          <a:p>
            <a:pPr algn="just"/>
            <a:r>
              <a:rPr lang="es-MX" sz="1600" cap="none" dirty="0"/>
              <a:t>Se inició la práctica localizando el archivo de instalación de </a:t>
            </a:r>
            <a:r>
              <a:rPr lang="es-MX" sz="1600" cap="none" dirty="0" err="1"/>
              <a:t>pgadmin</a:t>
            </a:r>
            <a:r>
              <a:rPr lang="es-MX" sz="1600" cap="none" dirty="0"/>
              <a:t> previamente descargado desde su página oficial. una vez ubicado, se ejecutó dando </a:t>
            </a:r>
            <a:r>
              <a:rPr lang="es-MX" sz="1800" cap="none" dirty="0"/>
              <a:t>doble clic sobre él.</a:t>
            </a:r>
            <a:br>
              <a:rPr lang="es-MX" sz="1800" cap="none" dirty="0"/>
            </a:br>
            <a:r>
              <a:rPr lang="es-MX" sz="1600" cap="none" dirty="0"/>
              <a:t>este paso es fundamental, ya que permite iniciar el asistente de instalación, el cual guiará al usuario durante todo el proceso de configuración del software.</a:t>
            </a:r>
          </a:p>
        </p:txBody>
      </p:sp>
      <p:pic>
        <p:nvPicPr>
          <p:cNvPr id="4" name="Marcador de contenido 4">
            <a:extLst>
              <a:ext uri="{FF2B5EF4-FFF2-40B4-BE49-F238E27FC236}">
                <a16:creationId xmlns:a16="http://schemas.microsoft.com/office/drawing/2014/main" id="{99EFCF95-4A8B-467B-9985-8694CFA2779B}"/>
              </a:ext>
            </a:extLst>
          </p:cNvPr>
          <p:cNvPicPr>
            <a:picLocks noGrp="1" noChangeAspect="1"/>
          </p:cNvPicPr>
          <p:nvPr>
            <p:ph sz="quarter" idx="13"/>
          </p:nvPr>
        </p:nvPicPr>
        <p:blipFill rotWithShape="1">
          <a:blip r:embed="rId2"/>
          <a:srcRect l="1440" t="1301" r="2040" b="2357"/>
          <a:stretch/>
        </p:blipFill>
        <p:spPr>
          <a:xfrm>
            <a:off x="913775" y="2581835"/>
            <a:ext cx="4966448" cy="3783961"/>
          </a:xfrm>
        </p:spPr>
      </p:pic>
      <p:sp>
        <p:nvSpPr>
          <p:cNvPr id="5" name="CuadroTexto 4">
            <a:extLst>
              <a:ext uri="{FF2B5EF4-FFF2-40B4-BE49-F238E27FC236}">
                <a16:creationId xmlns:a16="http://schemas.microsoft.com/office/drawing/2014/main" id="{F4378A6B-175F-44C2-B923-36E86C809DBE}"/>
              </a:ext>
            </a:extLst>
          </p:cNvPr>
          <p:cNvSpPr txBox="1"/>
          <p:nvPr/>
        </p:nvSpPr>
        <p:spPr>
          <a:xfrm>
            <a:off x="2653553" y="857344"/>
            <a:ext cx="6660776" cy="523220"/>
          </a:xfrm>
          <a:prstGeom prst="rect">
            <a:avLst/>
          </a:prstGeom>
          <a:noFill/>
        </p:spPr>
        <p:txBody>
          <a:bodyPr wrap="square" rtlCol="0">
            <a:spAutoFit/>
          </a:bodyPr>
          <a:lstStyle/>
          <a:p>
            <a:pPr algn="ctr"/>
            <a:r>
              <a:rPr lang="es-MX" sz="2800" b="1" dirty="0">
                <a:latin typeface="Arial" panose="020B0604020202020204" pitchFamily="34" charset="0"/>
                <a:cs typeface="Arial" panose="020B0604020202020204" pitchFamily="34" charset="0"/>
              </a:rPr>
              <a:t>EJECUCIÓN DEL INSTALADOR</a:t>
            </a:r>
          </a:p>
        </p:txBody>
      </p:sp>
    </p:spTree>
    <p:extLst>
      <p:ext uri="{BB962C8B-B14F-4D97-AF65-F5344CB8AC3E}">
        <p14:creationId xmlns:p14="http://schemas.microsoft.com/office/powerpoint/2010/main" val="847892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E20DD8-D73D-44E0-8A3E-A5B757823B68}"/>
              </a:ext>
            </a:extLst>
          </p:cNvPr>
          <p:cNvSpPr>
            <a:spLocks noGrp="1"/>
          </p:cNvSpPr>
          <p:nvPr>
            <p:ph type="title"/>
          </p:nvPr>
        </p:nvSpPr>
        <p:spPr>
          <a:xfrm>
            <a:off x="7010400" y="3429000"/>
            <a:ext cx="3684494" cy="1596177"/>
          </a:xfrm>
        </p:spPr>
        <p:txBody>
          <a:bodyPr>
            <a:noAutofit/>
          </a:bodyPr>
          <a:lstStyle/>
          <a:p>
            <a:pPr algn="just"/>
            <a:r>
              <a:rPr lang="es-MX" sz="1800" cap="none" dirty="0">
                <a:latin typeface="Arial" panose="020B0604020202020204" pitchFamily="34" charset="0"/>
                <a:cs typeface="Arial" panose="020B0604020202020204" pitchFamily="34" charset="0"/>
              </a:rPr>
              <a:t>El sistema muestra un acuerdo de licencia que establece las condiciones de uso del software.</a:t>
            </a:r>
            <a:br>
              <a:rPr lang="es-MX" sz="1800" cap="none" dirty="0">
                <a:latin typeface="Arial" panose="020B0604020202020204" pitchFamily="34" charset="0"/>
                <a:cs typeface="Arial" panose="020B0604020202020204" pitchFamily="34" charset="0"/>
              </a:rPr>
            </a:br>
            <a:r>
              <a:rPr lang="es-MX" sz="1800" cap="none" dirty="0">
                <a:latin typeface="Arial" panose="020B0604020202020204" pitchFamily="34" charset="0"/>
                <a:cs typeface="Arial" panose="020B0604020202020204" pitchFamily="34" charset="0"/>
              </a:rPr>
              <a:t>se procedió a leer y aceptar dichos términos para poder continuar con la instalación, ya que este paso es obligatorio para el uso legal del programa. posteriormente, se seleccionó la opción “next”</a:t>
            </a:r>
          </a:p>
        </p:txBody>
      </p:sp>
      <p:pic>
        <p:nvPicPr>
          <p:cNvPr id="4" name="Marcador de contenido 4">
            <a:extLst>
              <a:ext uri="{FF2B5EF4-FFF2-40B4-BE49-F238E27FC236}">
                <a16:creationId xmlns:a16="http://schemas.microsoft.com/office/drawing/2014/main" id="{D45104A3-AF07-4D0F-9794-AA75C15E2634}"/>
              </a:ext>
            </a:extLst>
          </p:cNvPr>
          <p:cNvPicPr>
            <a:picLocks noGrp="1" noChangeAspect="1"/>
          </p:cNvPicPr>
          <p:nvPr>
            <p:ph sz="quarter" idx="13"/>
          </p:nvPr>
        </p:nvPicPr>
        <p:blipFill rotWithShape="1">
          <a:blip r:embed="rId2"/>
          <a:srcRect l="1107" t="1563" r="1516" b="3665"/>
          <a:stretch/>
        </p:blipFill>
        <p:spPr>
          <a:xfrm>
            <a:off x="681319" y="2785485"/>
            <a:ext cx="4885764" cy="3715643"/>
          </a:xfrm>
        </p:spPr>
      </p:pic>
      <p:sp>
        <p:nvSpPr>
          <p:cNvPr id="5" name="CuadroTexto 4">
            <a:extLst>
              <a:ext uri="{FF2B5EF4-FFF2-40B4-BE49-F238E27FC236}">
                <a16:creationId xmlns:a16="http://schemas.microsoft.com/office/drawing/2014/main" id="{DA7F9220-9F90-4F50-8B30-918D6E241FD5}"/>
              </a:ext>
            </a:extLst>
          </p:cNvPr>
          <p:cNvSpPr txBox="1"/>
          <p:nvPr/>
        </p:nvSpPr>
        <p:spPr>
          <a:xfrm>
            <a:off x="2581834" y="489816"/>
            <a:ext cx="6660776" cy="400110"/>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ACEPTACIÓN DE TÉRMINOS DE LICENCIA</a:t>
            </a:r>
          </a:p>
        </p:txBody>
      </p:sp>
    </p:spTree>
    <p:extLst>
      <p:ext uri="{BB962C8B-B14F-4D97-AF65-F5344CB8AC3E}">
        <p14:creationId xmlns:p14="http://schemas.microsoft.com/office/powerpoint/2010/main" val="2867086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4BD036-17E0-4DED-8DC4-863CA2F2A4EB}"/>
              </a:ext>
            </a:extLst>
          </p:cNvPr>
          <p:cNvSpPr>
            <a:spLocks noGrp="1"/>
          </p:cNvSpPr>
          <p:nvPr>
            <p:ph type="title"/>
          </p:nvPr>
        </p:nvSpPr>
        <p:spPr>
          <a:xfrm>
            <a:off x="2921869" y="107576"/>
            <a:ext cx="5612531" cy="1031353"/>
          </a:xfrm>
        </p:spPr>
        <p:txBody>
          <a:bodyPr>
            <a:normAutofit/>
          </a:bodyPr>
          <a:lstStyle/>
          <a:p>
            <a:r>
              <a:rPr lang="es-MX" sz="2000" b="1" dirty="0">
                <a:latin typeface="Arial" panose="020B0604020202020204" pitchFamily="34" charset="0"/>
                <a:cs typeface="Arial" panose="020B0604020202020204" pitchFamily="34" charset="0"/>
              </a:rPr>
              <a:t>Configuración inicial de instalación</a:t>
            </a:r>
          </a:p>
        </p:txBody>
      </p:sp>
      <p:pic>
        <p:nvPicPr>
          <p:cNvPr id="4" name="Marcador de contenido 4">
            <a:extLst>
              <a:ext uri="{FF2B5EF4-FFF2-40B4-BE49-F238E27FC236}">
                <a16:creationId xmlns:a16="http://schemas.microsoft.com/office/drawing/2014/main" id="{61F525FF-8E6C-4978-8B65-4480F3218834}"/>
              </a:ext>
            </a:extLst>
          </p:cNvPr>
          <p:cNvPicPr>
            <a:picLocks noGrp="1" noChangeAspect="1"/>
          </p:cNvPicPr>
          <p:nvPr>
            <p:ph sz="quarter" idx="13"/>
          </p:nvPr>
        </p:nvPicPr>
        <p:blipFill rotWithShape="1">
          <a:blip r:embed="rId2"/>
          <a:srcRect l="784" t="1301" r="2606" b="2617"/>
          <a:stretch/>
        </p:blipFill>
        <p:spPr>
          <a:xfrm>
            <a:off x="259976" y="2725271"/>
            <a:ext cx="4939554" cy="3800454"/>
          </a:xfrm>
        </p:spPr>
      </p:pic>
      <p:sp>
        <p:nvSpPr>
          <p:cNvPr id="5" name="CuadroTexto 4">
            <a:extLst>
              <a:ext uri="{FF2B5EF4-FFF2-40B4-BE49-F238E27FC236}">
                <a16:creationId xmlns:a16="http://schemas.microsoft.com/office/drawing/2014/main" id="{E1B8EB36-41AA-41AA-B186-21323B07BD04}"/>
              </a:ext>
            </a:extLst>
          </p:cNvPr>
          <p:cNvSpPr txBox="1"/>
          <p:nvPr/>
        </p:nvSpPr>
        <p:spPr>
          <a:xfrm>
            <a:off x="6266328" y="2940424"/>
            <a:ext cx="4177553" cy="2585323"/>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Se muestran algunas opciones relacionadas con la instalación, como la ubicación donde se guardará el programa dentro del sistema.</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Generalmente, se recomienda dejar la configuración por defecto para evitar errores. Después de verificar estos datos, se dio clic en “</a:t>
            </a:r>
            <a:r>
              <a:rPr lang="es-MX" dirty="0" err="1">
                <a:latin typeface="Arial" panose="020B0604020202020204" pitchFamily="34" charset="0"/>
                <a:cs typeface="Arial" panose="020B0604020202020204" pitchFamily="34" charset="0"/>
              </a:rPr>
              <a:t>Install</a:t>
            </a:r>
            <a:r>
              <a:rPr lang="es-MX" dirty="0">
                <a:latin typeface="Arial" panose="020B0604020202020204" pitchFamily="34" charset="0"/>
                <a:cs typeface="Arial" panose="020B0604020202020204" pitchFamily="34" charset="0"/>
              </a:rPr>
              <a:t>” para iniciar el proceso.</a:t>
            </a:r>
          </a:p>
        </p:txBody>
      </p:sp>
    </p:spTree>
    <p:extLst>
      <p:ext uri="{BB962C8B-B14F-4D97-AF65-F5344CB8AC3E}">
        <p14:creationId xmlns:p14="http://schemas.microsoft.com/office/powerpoint/2010/main" val="1635830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94D194-CA56-42F0-ACF2-2C7B18FCCF19}"/>
              </a:ext>
            </a:extLst>
          </p:cNvPr>
          <p:cNvSpPr>
            <a:spLocks noGrp="1"/>
          </p:cNvSpPr>
          <p:nvPr>
            <p:ph type="title"/>
          </p:nvPr>
        </p:nvSpPr>
        <p:spPr>
          <a:xfrm>
            <a:off x="2026025" y="138085"/>
            <a:ext cx="5845613" cy="394495"/>
          </a:xfrm>
        </p:spPr>
        <p:txBody>
          <a:bodyPr>
            <a:noAutofit/>
          </a:bodyPr>
          <a:lstStyle/>
          <a:p>
            <a:r>
              <a:rPr lang="es-MX" sz="2400" b="1" dirty="0">
                <a:latin typeface="Arial" panose="020B0604020202020204" pitchFamily="34" charset="0"/>
                <a:cs typeface="Arial" panose="020B0604020202020204" pitchFamily="34" charset="0"/>
              </a:rPr>
              <a:t>Proceso de instalación</a:t>
            </a:r>
          </a:p>
        </p:txBody>
      </p:sp>
      <p:pic>
        <p:nvPicPr>
          <p:cNvPr id="4" name="Marcador de contenido 10">
            <a:extLst>
              <a:ext uri="{FF2B5EF4-FFF2-40B4-BE49-F238E27FC236}">
                <a16:creationId xmlns:a16="http://schemas.microsoft.com/office/drawing/2014/main" id="{30DA5470-F4BC-4620-B777-360D56F6D1E3}"/>
              </a:ext>
            </a:extLst>
          </p:cNvPr>
          <p:cNvPicPr>
            <a:picLocks noGrp="1" noChangeAspect="1"/>
          </p:cNvPicPr>
          <p:nvPr>
            <p:ph sz="quarter" idx="13"/>
          </p:nvPr>
        </p:nvPicPr>
        <p:blipFill rotWithShape="1">
          <a:blip r:embed="rId2"/>
          <a:srcRect l="640" t="1562" r="1240" b="1833"/>
          <a:stretch/>
        </p:blipFill>
        <p:spPr>
          <a:xfrm>
            <a:off x="313764" y="2352345"/>
            <a:ext cx="4903693" cy="3685260"/>
          </a:xfrm>
        </p:spPr>
      </p:pic>
      <p:sp>
        <p:nvSpPr>
          <p:cNvPr id="5" name="CuadroTexto 4">
            <a:extLst>
              <a:ext uri="{FF2B5EF4-FFF2-40B4-BE49-F238E27FC236}">
                <a16:creationId xmlns:a16="http://schemas.microsoft.com/office/drawing/2014/main" id="{5BA340D5-50DA-4FD4-A6A1-7532490EE15E}"/>
              </a:ext>
            </a:extLst>
          </p:cNvPr>
          <p:cNvSpPr txBox="1"/>
          <p:nvPr/>
        </p:nvSpPr>
        <p:spPr>
          <a:xfrm rot="10800000" flipH="1" flipV="1">
            <a:off x="6379343" y="3040813"/>
            <a:ext cx="3661128" cy="2308324"/>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Sistema comenzó a copiar los archivos necesarios para que pgAdmin funcione correctamente.</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Se mostró una barra de progreso indicando el avance de la instalación. Durante este proceso, el sistema realiza configuraciones internas automáticamente.</a:t>
            </a:r>
          </a:p>
        </p:txBody>
      </p:sp>
    </p:spTree>
    <p:extLst>
      <p:ext uri="{BB962C8B-B14F-4D97-AF65-F5344CB8AC3E}">
        <p14:creationId xmlns:p14="http://schemas.microsoft.com/office/powerpoint/2010/main" val="3896798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30F315-4164-4FF9-A78B-FE30BF3E51BC}"/>
              </a:ext>
            </a:extLst>
          </p:cNvPr>
          <p:cNvSpPr>
            <a:spLocks noGrp="1"/>
          </p:cNvSpPr>
          <p:nvPr>
            <p:ph type="title"/>
          </p:nvPr>
        </p:nvSpPr>
        <p:spPr>
          <a:xfrm>
            <a:off x="2617695" y="0"/>
            <a:ext cx="6051802" cy="1165459"/>
          </a:xfrm>
        </p:spPr>
        <p:txBody>
          <a:bodyPr>
            <a:normAutofit/>
          </a:bodyPr>
          <a:lstStyle/>
          <a:p>
            <a:r>
              <a:rPr lang="es-MX" sz="2000" b="1" dirty="0">
                <a:latin typeface="Arial" panose="020B0604020202020204" pitchFamily="34" charset="0"/>
                <a:cs typeface="Arial" panose="020B0604020202020204" pitchFamily="34" charset="0"/>
              </a:rPr>
              <a:t>Finalización de instalación</a:t>
            </a:r>
          </a:p>
        </p:txBody>
      </p:sp>
      <p:pic>
        <p:nvPicPr>
          <p:cNvPr id="7" name="Marcador de contenido 4">
            <a:extLst>
              <a:ext uri="{FF2B5EF4-FFF2-40B4-BE49-F238E27FC236}">
                <a16:creationId xmlns:a16="http://schemas.microsoft.com/office/drawing/2014/main" id="{7D260CBF-5519-4720-8126-662C4C2A5BB8}"/>
              </a:ext>
            </a:extLst>
          </p:cNvPr>
          <p:cNvPicPr>
            <a:picLocks noGrp="1" noChangeAspect="1"/>
          </p:cNvPicPr>
          <p:nvPr>
            <p:ph sz="quarter" idx="13"/>
          </p:nvPr>
        </p:nvPicPr>
        <p:blipFill rotWithShape="1">
          <a:blip r:embed="rId2"/>
          <a:srcRect l="2401" t="2085" r="2200" b="3927"/>
          <a:stretch/>
        </p:blipFill>
        <p:spPr>
          <a:xfrm>
            <a:off x="259976" y="2545976"/>
            <a:ext cx="5208494" cy="3936526"/>
          </a:xfrm>
        </p:spPr>
      </p:pic>
      <p:sp>
        <p:nvSpPr>
          <p:cNvPr id="8" name="CuadroTexto 7">
            <a:extLst>
              <a:ext uri="{FF2B5EF4-FFF2-40B4-BE49-F238E27FC236}">
                <a16:creationId xmlns:a16="http://schemas.microsoft.com/office/drawing/2014/main" id="{300C209E-2939-4664-A3D0-708DCEBC98A3}"/>
              </a:ext>
            </a:extLst>
          </p:cNvPr>
          <p:cNvSpPr txBox="1"/>
          <p:nvPr/>
        </p:nvSpPr>
        <p:spPr>
          <a:xfrm>
            <a:off x="6396944" y="3315724"/>
            <a:ext cx="4545105" cy="1754326"/>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Una vez completada la instalación, el sistema muestra una ventana indicando que el proceso ha concluido exitosamente.</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En este punto, el software ya se encuentra listo para ser utilizado. Se seleccionó la opción para finalizar y cerrar el asistente.</a:t>
            </a:r>
          </a:p>
        </p:txBody>
      </p:sp>
    </p:spTree>
    <p:extLst>
      <p:ext uri="{BB962C8B-B14F-4D97-AF65-F5344CB8AC3E}">
        <p14:creationId xmlns:p14="http://schemas.microsoft.com/office/powerpoint/2010/main" val="1260429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BB595B-CE28-46B0-87BE-8933D83CDBF0}"/>
              </a:ext>
            </a:extLst>
          </p:cNvPr>
          <p:cNvSpPr>
            <a:spLocks noGrp="1"/>
          </p:cNvSpPr>
          <p:nvPr>
            <p:ph type="title"/>
          </p:nvPr>
        </p:nvSpPr>
        <p:spPr>
          <a:xfrm>
            <a:off x="1496482" y="134423"/>
            <a:ext cx="7602696" cy="403021"/>
          </a:xfrm>
        </p:spPr>
        <p:txBody>
          <a:bodyPr>
            <a:normAutofit/>
          </a:bodyPr>
          <a:lstStyle/>
          <a:p>
            <a:r>
              <a:rPr lang="es-MX" sz="2000" b="1" dirty="0">
                <a:latin typeface="Arial" panose="020B0604020202020204" pitchFamily="34" charset="0"/>
                <a:cs typeface="Arial" panose="020B0604020202020204" pitchFamily="34" charset="0"/>
              </a:rPr>
              <a:t>Inicio del programa pgAdmin</a:t>
            </a:r>
          </a:p>
        </p:txBody>
      </p:sp>
      <p:pic>
        <p:nvPicPr>
          <p:cNvPr id="4" name="Marcador de contenido 4">
            <a:extLst>
              <a:ext uri="{FF2B5EF4-FFF2-40B4-BE49-F238E27FC236}">
                <a16:creationId xmlns:a16="http://schemas.microsoft.com/office/drawing/2014/main" id="{F4F6D9F8-412B-4512-B375-285457BE71C4}"/>
              </a:ext>
            </a:extLst>
          </p:cNvPr>
          <p:cNvPicPr>
            <a:picLocks noGrp="1" noChangeAspect="1"/>
          </p:cNvPicPr>
          <p:nvPr>
            <p:ph sz="quarter" idx="13"/>
          </p:nvPr>
        </p:nvPicPr>
        <p:blipFill rotWithShape="1">
          <a:blip r:embed="rId2"/>
          <a:srcRect l="4834" t="3395" r="2104" b="1833"/>
          <a:stretch/>
        </p:blipFill>
        <p:spPr>
          <a:xfrm>
            <a:off x="98611" y="2649843"/>
            <a:ext cx="3899647" cy="3186619"/>
          </a:xfrm>
        </p:spPr>
      </p:pic>
      <p:pic>
        <p:nvPicPr>
          <p:cNvPr id="5" name="Imagen 4">
            <a:extLst>
              <a:ext uri="{FF2B5EF4-FFF2-40B4-BE49-F238E27FC236}">
                <a16:creationId xmlns:a16="http://schemas.microsoft.com/office/drawing/2014/main" id="{A73A9EBC-FA3F-4806-98D8-DEBC79B628E7}"/>
              </a:ext>
            </a:extLst>
          </p:cNvPr>
          <p:cNvPicPr>
            <a:picLocks noChangeAspect="1"/>
          </p:cNvPicPr>
          <p:nvPr/>
        </p:nvPicPr>
        <p:blipFill rotWithShape="1">
          <a:blip r:embed="rId3"/>
          <a:srcRect b="8282"/>
          <a:stretch/>
        </p:blipFill>
        <p:spPr>
          <a:xfrm>
            <a:off x="4228405" y="2880297"/>
            <a:ext cx="4628725" cy="2725709"/>
          </a:xfrm>
          <a:prstGeom prst="rect">
            <a:avLst/>
          </a:prstGeom>
        </p:spPr>
      </p:pic>
      <p:sp>
        <p:nvSpPr>
          <p:cNvPr id="6" name="CuadroTexto 5">
            <a:extLst>
              <a:ext uri="{FF2B5EF4-FFF2-40B4-BE49-F238E27FC236}">
                <a16:creationId xmlns:a16="http://schemas.microsoft.com/office/drawing/2014/main" id="{CF29E289-7149-46DF-B14C-7ABC3C001DE4}"/>
              </a:ext>
            </a:extLst>
          </p:cNvPr>
          <p:cNvSpPr txBox="1"/>
          <p:nvPr/>
        </p:nvSpPr>
        <p:spPr>
          <a:xfrm>
            <a:off x="4228405" y="1251994"/>
            <a:ext cx="4948517" cy="1477328"/>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Después de la instalación, se procedió a abrir pgAdmin desde el menú de aplicaciones.</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Al iniciar, el programa carga su interfaz gráfica, la cual permite administrar bases de datos de manera visual y organizada.</a:t>
            </a:r>
          </a:p>
        </p:txBody>
      </p:sp>
    </p:spTree>
    <p:extLst>
      <p:ext uri="{BB962C8B-B14F-4D97-AF65-F5344CB8AC3E}">
        <p14:creationId xmlns:p14="http://schemas.microsoft.com/office/powerpoint/2010/main" val="1900663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A7F2B3-E270-4F42-BF26-00BF05CFCB2C}"/>
              </a:ext>
            </a:extLst>
          </p:cNvPr>
          <p:cNvSpPr>
            <a:spLocks noGrp="1"/>
          </p:cNvSpPr>
          <p:nvPr>
            <p:ph type="title"/>
          </p:nvPr>
        </p:nvSpPr>
        <p:spPr>
          <a:xfrm>
            <a:off x="3334871" y="0"/>
            <a:ext cx="5513606" cy="797859"/>
          </a:xfrm>
        </p:spPr>
        <p:txBody>
          <a:bodyPr>
            <a:normAutofit/>
          </a:bodyPr>
          <a:lstStyle/>
          <a:p>
            <a:r>
              <a:rPr lang="es-MX" sz="2000" b="1" dirty="0">
                <a:latin typeface="Arial" panose="020B0604020202020204" pitchFamily="34" charset="0"/>
                <a:cs typeface="Arial" panose="020B0604020202020204" pitchFamily="34" charset="0"/>
              </a:rPr>
              <a:t>Configuración de conexión</a:t>
            </a:r>
          </a:p>
        </p:txBody>
      </p:sp>
      <p:pic>
        <p:nvPicPr>
          <p:cNvPr id="4" name="Marcador de contenido 4">
            <a:extLst>
              <a:ext uri="{FF2B5EF4-FFF2-40B4-BE49-F238E27FC236}">
                <a16:creationId xmlns:a16="http://schemas.microsoft.com/office/drawing/2014/main" id="{BCAA2346-4466-4429-9E42-420687F09E21}"/>
              </a:ext>
            </a:extLst>
          </p:cNvPr>
          <p:cNvPicPr>
            <a:picLocks noGrp="1" noChangeAspect="1"/>
          </p:cNvPicPr>
          <p:nvPr>
            <p:ph sz="quarter" idx="13"/>
          </p:nvPr>
        </p:nvPicPr>
        <p:blipFill rotWithShape="1">
          <a:blip r:embed="rId2"/>
          <a:srcRect l="24603" t="9416" r="21390" b="11323"/>
          <a:stretch/>
        </p:blipFill>
        <p:spPr>
          <a:xfrm>
            <a:off x="439271" y="2492189"/>
            <a:ext cx="4571998" cy="3576918"/>
          </a:xfrm>
          <a:ln>
            <a:solidFill>
              <a:schemeClr val="accent1"/>
            </a:solidFill>
          </a:ln>
        </p:spPr>
      </p:pic>
      <p:sp>
        <p:nvSpPr>
          <p:cNvPr id="5" name="CuadroTexto 4">
            <a:extLst>
              <a:ext uri="{FF2B5EF4-FFF2-40B4-BE49-F238E27FC236}">
                <a16:creationId xmlns:a16="http://schemas.microsoft.com/office/drawing/2014/main" id="{103217DD-6A05-4ABA-A46E-2E93517119B0}"/>
              </a:ext>
            </a:extLst>
          </p:cNvPr>
          <p:cNvSpPr txBox="1"/>
          <p:nvPr/>
        </p:nvSpPr>
        <p:spPr>
          <a:xfrm>
            <a:off x="5988424" y="2840280"/>
            <a:ext cx="4867835" cy="1477328"/>
          </a:xfrm>
          <a:prstGeom prst="rect">
            <a:avLst/>
          </a:prstGeom>
          <a:noFill/>
        </p:spPr>
        <p:txBody>
          <a:bodyPr wrap="square" rtlCol="0">
            <a:spAutoFit/>
          </a:bodyPr>
          <a:lstStyle/>
          <a:p>
            <a:r>
              <a:rPr lang="es-MX" dirty="0">
                <a:latin typeface="Arial" panose="020B0604020202020204" pitchFamily="34" charset="0"/>
                <a:cs typeface="Arial" panose="020B0604020202020204" pitchFamily="34" charset="0"/>
              </a:rPr>
              <a:t>En esta sección se ingresaron los datos necesarios para establecer la conexión con PostgreSQL, tales como:</a:t>
            </a:r>
          </a:p>
          <a:p>
            <a:r>
              <a:rPr lang="es-MX" dirty="0">
                <a:latin typeface="Arial" panose="020B0604020202020204" pitchFamily="34" charset="0"/>
                <a:cs typeface="Arial" panose="020B0604020202020204" pitchFamily="34" charset="0"/>
              </a:rPr>
              <a:t>Host (generalmente “localhost”)</a:t>
            </a:r>
          </a:p>
          <a:p>
            <a:endParaRPr lang="es-MX" dirty="0"/>
          </a:p>
        </p:txBody>
      </p:sp>
    </p:spTree>
    <p:extLst>
      <p:ext uri="{BB962C8B-B14F-4D97-AF65-F5344CB8AC3E}">
        <p14:creationId xmlns:p14="http://schemas.microsoft.com/office/powerpoint/2010/main" val="2701525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CEB31C-2694-400F-BE3B-EA2C15B1A47A}"/>
              </a:ext>
            </a:extLst>
          </p:cNvPr>
          <p:cNvSpPr>
            <a:spLocks noGrp="1"/>
          </p:cNvSpPr>
          <p:nvPr>
            <p:ph type="title"/>
          </p:nvPr>
        </p:nvSpPr>
        <p:spPr>
          <a:xfrm>
            <a:off x="3549399" y="80657"/>
            <a:ext cx="4859495" cy="520001"/>
          </a:xfrm>
        </p:spPr>
        <p:txBody>
          <a:bodyPr>
            <a:noAutofit/>
          </a:bodyPr>
          <a:lstStyle/>
          <a:p>
            <a:r>
              <a:rPr lang="es-MX" sz="2000" b="1" dirty="0">
                <a:latin typeface="Arial" panose="020B0604020202020204" pitchFamily="34" charset="0"/>
                <a:cs typeface="Arial" panose="020B0604020202020204" pitchFamily="34" charset="0"/>
              </a:rPr>
              <a:t>Creación de la base de datos</a:t>
            </a:r>
          </a:p>
        </p:txBody>
      </p:sp>
      <p:pic>
        <p:nvPicPr>
          <p:cNvPr id="4" name="Marcador de contenido 4">
            <a:extLst>
              <a:ext uri="{FF2B5EF4-FFF2-40B4-BE49-F238E27FC236}">
                <a16:creationId xmlns:a16="http://schemas.microsoft.com/office/drawing/2014/main" id="{5960E15E-EFAD-4AC0-9645-B511E6ACA47C}"/>
              </a:ext>
            </a:extLst>
          </p:cNvPr>
          <p:cNvPicPr>
            <a:picLocks noGrp="1" noChangeAspect="1"/>
          </p:cNvPicPr>
          <p:nvPr>
            <p:ph sz="quarter" idx="13"/>
          </p:nvPr>
        </p:nvPicPr>
        <p:blipFill>
          <a:blip r:embed="rId2"/>
          <a:stretch>
            <a:fillRect/>
          </a:stretch>
        </p:blipFill>
        <p:spPr>
          <a:xfrm>
            <a:off x="288395" y="2379789"/>
            <a:ext cx="4625788" cy="3827289"/>
          </a:xfrm>
        </p:spPr>
      </p:pic>
      <p:sp>
        <p:nvSpPr>
          <p:cNvPr id="5" name="CuadroTexto 4">
            <a:extLst>
              <a:ext uri="{FF2B5EF4-FFF2-40B4-BE49-F238E27FC236}">
                <a16:creationId xmlns:a16="http://schemas.microsoft.com/office/drawing/2014/main" id="{E569873A-3D23-450C-A0DA-4091BD844211}"/>
              </a:ext>
            </a:extLst>
          </p:cNvPr>
          <p:cNvSpPr txBox="1"/>
          <p:nvPr/>
        </p:nvSpPr>
        <p:spPr>
          <a:xfrm>
            <a:off x="5844987" y="3300094"/>
            <a:ext cx="4625788" cy="1200329"/>
          </a:xfrm>
          <a:prstGeom prst="rect">
            <a:avLst/>
          </a:prstGeom>
          <a:noFill/>
        </p:spPr>
        <p:txBody>
          <a:bodyPr wrap="square" rtlCol="0">
            <a:spAutoFit/>
          </a:bodyPr>
          <a:lstStyle/>
          <a:p>
            <a:r>
              <a:rPr lang="es-MX" dirty="0">
                <a:latin typeface="Arial" panose="020B0604020202020204" pitchFamily="34" charset="0"/>
                <a:cs typeface="Arial" panose="020B0604020202020204" pitchFamily="34" charset="0"/>
              </a:rPr>
              <a:t>Una vez conectado el servidor, se procedió a crear una nueva base de datos.</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Se dio clic derecho sobre el servidor y se seleccionó la opción </a:t>
            </a:r>
            <a:r>
              <a:rPr lang="es-MX" dirty="0" err="1">
                <a:latin typeface="Arial" panose="020B0604020202020204" pitchFamily="34" charset="0"/>
                <a:cs typeface="Arial" panose="020B0604020202020204" pitchFamily="34" charset="0"/>
              </a:rPr>
              <a:t>Create</a:t>
            </a:r>
            <a:r>
              <a:rPr lang="es-MX" dirty="0">
                <a:latin typeface="Arial" panose="020B0604020202020204" pitchFamily="34" charset="0"/>
                <a:cs typeface="Arial" panose="020B0604020202020204" pitchFamily="34" charset="0"/>
              </a:rPr>
              <a:t> → </a:t>
            </a:r>
            <a:r>
              <a:rPr lang="es-MX" dirty="0" err="1">
                <a:latin typeface="Arial" panose="020B0604020202020204" pitchFamily="34" charset="0"/>
                <a:cs typeface="Arial" panose="020B0604020202020204" pitchFamily="34" charset="0"/>
              </a:rPr>
              <a:t>Database</a:t>
            </a:r>
            <a:r>
              <a:rPr lang="es-MX"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515980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C32AD9-E655-498B-952B-B71670FF3B9B}"/>
              </a:ext>
            </a:extLst>
          </p:cNvPr>
          <p:cNvSpPr>
            <a:spLocks noGrp="1"/>
          </p:cNvSpPr>
          <p:nvPr>
            <p:ph type="title"/>
          </p:nvPr>
        </p:nvSpPr>
        <p:spPr>
          <a:xfrm>
            <a:off x="7315199" y="2886588"/>
            <a:ext cx="3694085" cy="1596177"/>
          </a:xfrm>
        </p:spPr>
        <p:txBody>
          <a:bodyPr>
            <a:normAutofit/>
          </a:bodyPr>
          <a:lstStyle/>
          <a:p>
            <a:r>
              <a:rPr lang="es-MX" sz="2000" cap="none" dirty="0">
                <a:latin typeface="Arial" panose="020B0604020202020204" pitchFamily="34" charset="0"/>
                <a:cs typeface="Arial" panose="020B0604020202020204" pitchFamily="34" charset="0"/>
              </a:rPr>
              <a:t>Se asignó el nombre “prueba1”, el cual servirá como contenedor de la información que se manejara</a:t>
            </a:r>
          </a:p>
        </p:txBody>
      </p:sp>
      <p:pic>
        <p:nvPicPr>
          <p:cNvPr id="4" name="Marcador de contenido 10">
            <a:extLst>
              <a:ext uri="{FF2B5EF4-FFF2-40B4-BE49-F238E27FC236}">
                <a16:creationId xmlns:a16="http://schemas.microsoft.com/office/drawing/2014/main" id="{52F2623B-6E50-4731-90BF-62F9CB0C8855}"/>
              </a:ext>
            </a:extLst>
          </p:cNvPr>
          <p:cNvPicPr>
            <a:picLocks noGrp="1" noChangeAspect="1"/>
          </p:cNvPicPr>
          <p:nvPr>
            <p:ph sz="quarter" idx="13"/>
          </p:nvPr>
        </p:nvPicPr>
        <p:blipFill>
          <a:blip r:embed="rId2"/>
          <a:stretch>
            <a:fillRect/>
          </a:stretch>
        </p:blipFill>
        <p:spPr>
          <a:xfrm>
            <a:off x="201986" y="1828801"/>
            <a:ext cx="6874633" cy="4105835"/>
          </a:xfrm>
        </p:spPr>
      </p:pic>
    </p:spTree>
    <p:extLst>
      <p:ext uri="{BB962C8B-B14F-4D97-AF65-F5344CB8AC3E}">
        <p14:creationId xmlns:p14="http://schemas.microsoft.com/office/powerpoint/2010/main" val="2673077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38F851-276D-4254-8AC9-33862810779D}"/>
              </a:ext>
            </a:extLst>
          </p:cNvPr>
          <p:cNvSpPr>
            <a:spLocks noGrp="1"/>
          </p:cNvSpPr>
          <p:nvPr>
            <p:ph type="title"/>
          </p:nvPr>
        </p:nvSpPr>
        <p:spPr>
          <a:xfrm>
            <a:off x="3396999" y="206142"/>
            <a:ext cx="5182225" cy="448284"/>
          </a:xfrm>
        </p:spPr>
        <p:txBody>
          <a:bodyPr>
            <a:normAutofit/>
          </a:bodyPr>
          <a:lstStyle/>
          <a:p>
            <a:r>
              <a:rPr lang="es-MX" sz="2000" b="1" dirty="0">
                <a:latin typeface="Arial" panose="020B0604020202020204" pitchFamily="34" charset="0"/>
                <a:cs typeface="Arial" panose="020B0604020202020204" pitchFamily="34" charset="0"/>
              </a:rPr>
              <a:t>Creación de la tabla</a:t>
            </a:r>
          </a:p>
        </p:txBody>
      </p:sp>
      <p:sp>
        <p:nvSpPr>
          <p:cNvPr id="3" name="Marcador de contenido 2">
            <a:extLst>
              <a:ext uri="{FF2B5EF4-FFF2-40B4-BE49-F238E27FC236}">
                <a16:creationId xmlns:a16="http://schemas.microsoft.com/office/drawing/2014/main" id="{6E9E658F-C18D-4C61-96CD-60A25E59D6AA}"/>
              </a:ext>
            </a:extLst>
          </p:cNvPr>
          <p:cNvSpPr>
            <a:spLocks noGrp="1"/>
          </p:cNvSpPr>
          <p:nvPr>
            <p:ph sz="quarter" idx="13"/>
          </p:nvPr>
        </p:nvSpPr>
        <p:spPr>
          <a:xfrm>
            <a:off x="6911163" y="3429000"/>
            <a:ext cx="4482979" cy="2025614"/>
          </a:xfrm>
        </p:spPr>
        <p:txBody>
          <a:bodyPr>
            <a:normAutofit fontScale="92500" lnSpcReduction="10000"/>
          </a:bodyPr>
          <a:lstStyle/>
          <a:p>
            <a:pPr marL="0" indent="0">
              <a:buNone/>
            </a:pPr>
            <a:r>
              <a:rPr lang="es-MX" cap="none" dirty="0">
                <a:latin typeface="Arial" panose="020B0604020202020204" pitchFamily="34" charset="0"/>
                <a:cs typeface="Arial" panose="020B0604020202020204" pitchFamily="34" charset="0"/>
              </a:rPr>
              <a:t>Dentro de la base de datos creada, se generó una tabla llamada usuarios.</a:t>
            </a:r>
            <a:br>
              <a:rPr lang="es-MX" cap="none" dirty="0">
                <a:latin typeface="Arial" panose="020B0604020202020204" pitchFamily="34" charset="0"/>
                <a:cs typeface="Arial" panose="020B0604020202020204" pitchFamily="34" charset="0"/>
              </a:rPr>
            </a:br>
            <a:r>
              <a:rPr lang="es-MX" cap="none" dirty="0">
                <a:latin typeface="Arial" panose="020B0604020202020204" pitchFamily="34" charset="0"/>
                <a:cs typeface="Arial" panose="020B0604020202020204" pitchFamily="34" charset="0"/>
              </a:rPr>
              <a:t>las tablas son estructuras donde se almacenan los datos organizados en filas y columnas, permitiendo un manejo eficiente de la información.</a:t>
            </a:r>
          </a:p>
        </p:txBody>
      </p:sp>
      <p:pic>
        <p:nvPicPr>
          <p:cNvPr id="4" name="Imagen 3">
            <a:extLst>
              <a:ext uri="{FF2B5EF4-FFF2-40B4-BE49-F238E27FC236}">
                <a16:creationId xmlns:a16="http://schemas.microsoft.com/office/drawing/2014/main" id="{147CB525-3323-4992-B3F5-1A1C4BE3DF63}"/>
              </a:ext>
            </a:extLst>
          </p:cNvPr>
          <p:cNvPicPr>
            <a:picLocks noChangeAspect="1"/>
          </p:cNvPicPr>
          <p:nvPr/>
        </p:nvPicPr>
        <p:blipFill rotWithShape="1">
          <a:blip r:embed="rId2"/>
          <a:srcRect l="10484" t="-1223" b="1273"/>
          <a:stretch/>
        </p:blipFill>
        <p:spPr>
          <a:xfrm>
            <a:off x="636493" y="2465294"/>
            <a:ext cx="5728447" cy="3442447"/>
          </a:xfrm>
          <a:prstGeom prst="rect">
            <a:avLst/>
          </a:prstGeom>
        </p:spPr>
      </p:pic>
    </p:spTree>
    <p:extLst>
      <p:ext uri="{BB962C8B-B14F-4D97-AF65-F5344CB8AC3E}">
        <p14:creationId xmlns:p14="http://schemas.microsoft.com/office/powerpoint/2010/main" val="3893953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2D9B46-A909-4462-9AE5-0B20D40833D0}"/>
              </a:ext>
            </a:extLst>
          </p:cNvPr>
          <p:cNvSpPr>
            <a:spLocks noGrp="1"/>
          </p:cNvSpPr>
          <p:nvPr>
            <p:ph type="title"/>
          </p:nvPr>
        </p:nvSpPr>
        <p:spPr/>
        <p:txBody>
          <a:bodyPr/>
          <a:lstStyle/>
          <a:p>
            <a:endParaRPr lang="es-MX"/>
          </a:p>
        </p:txBody>
      </p:sp>
      <p:pic>
        <p:nvPicPr>
          <p:cNvPr id="4" name="Marcador de contenido 4">
            <a:extLst>
              <a:ext uri="{FF2B5EF4-FFF2-40B4-BE49-F238E27FC236}">
                <a16:creationId xmlns:a16="http://schemas.microsoft.com/office/drawing/2014/main" id="{E5BD4CB7-4AC8-4F81-92BA-074D71EBD0F0}"/>
              </a:ext>
            </a:extLst>
          </p:cNvPr>
          <p:cNvPicPr>
            <a:picLocks noGrp="1" noChangeAspect="1"/>
          </p:cNvPicPr>
          <p:nvPr>
            <p:ph sz="quarter" idx="13"/>
          </p:nvPr>
        </p:nvPicPr>
        <p:blipFill rotWithShape="1">
          <a:blip r:embed="rId2"/>
          <a:srcRect l="16270" t="9417" r="17506" b="10472"/>
          <a:stretch/>
        </p:blipFill>
        <p:spPr>
          <a:xfrm>
            <a:off x="88240" y="2563954"/>
            <a:ext cx="5801572" cy="3675529"/>
          </a:xfrm>
        </p:spPr>
      </p:pic>
      <p:pic>
        <p:nvPicPr>
          <p:cNvPr id="5" name="Imagen 4">
            <a:extLst>
              <a:ext uri="{FF2B5EF4-FFF2-40B4-BE49-F238E27FC236}">
                <a16:creationId xmlns:a16="http://schemas.microsoft.com/office/drawing/2014/main" id="{B6C643B0-9E98-4FBA-ACEC-00D07D552E65}"/>
              </a:ext>
            </a:extLst>
          </p:cNvPr>
          <p:cNvPicPr>
            <a:picLocks noChangeAspect="1"/>
          </p:cNvPicPr>
          <p:nvPr/>
        </p:nvPicPr>
        <p:blipFill>
          <a:blip r:embed="rId3"/>
          <a:stretch>
            <a:fillRect/>
          </a:stretch>
        </p:blipFill>
        <p:spPr>
          <a:xfrm>
            <a:off x="5966948" y="5104003"/>
            <a:ext cx="3873450" cy="1296800"/>
          </a:xfrm>
          <a:prstGeom prst="rect">
            <a:avLst/>
          </a:prstGeom>
        </p:spPr>
      </p:pic>
      <p:sp>
        <p:nvSpPr>
          <p:cNvPr id="6" name="CuadroTexto 5">
            <a:extLst>
              <a:ext uri="{FF2B5EF4-FFF2-40B4-BE49-F238E27FC236}">
                <a16:creationId xmlns:a16="http://schemas.microsoft.com/office/drawing/2014/main" id="{9101E579-B843-4F76-8ABF-153D2E76E7B0}"/>
              </a:ext>
            </a:extLst>
          </p:cNvPr>
          <p:cNvSpPr txBox="1"/>
          <p:nvPr/>
        </p:nvSpPr>
        <p:spPr>
          <a:xfrm>
            <a:off x="6096000" y="2814917"/>
            <a:ext cx="5916706" cy="2031325"/>
          </a:xfrm>
          <a:prstGeom prst="rect">
            <a:avLst/>
          </a:prstGeom>
          <a:noFill/>
        </p:spPr>
        <p:txBody>
          <a:bodyPr wrap="square" rtlCol="0">
            <a:spAutoFit/>
          </a:bodyPr>
          <a:lstStyle/>
          <a:p>
            <a:r>
              <a:rPr lang="es-MX" dirty="0"/>
              <a:t>Nos dirigimos a la sección “</a:t>
            </a:r>
            <a:r>
              <a:rPr lang="es-MX" dirty="0" err="1"/>
              <a:t>Columns</a:t>
            </a:r>
            <a:r>
              <a:rPr lang="es-MX" dirty="0"/>
              <a:t>”, donde se procedió a agregar los campos necesarios para la estructura de la tabla.</a:t>
            </a:r>
            <a:br>
              <a:rPr lang="es-MX" dirty="0"/>
            </a:br>
            <a:r>
              <a:rPr lang="es-MX" dirty="0"/>
              <a:t>Posteriormente, se accedió al apartado “</a:t>
            </a:r>
            <a:r>
              <a:rPr lang="es-MX" dirty="0" err="1"/>
              <a:t>Constraints</a:t>
            </a:r>
            <a:r>
              <a:rPr lang="es-MX" dirty="0"/>
              <a:t>” para configurar las restricciones correspondientes, tal como se muestra en las imágenes.</a:t>
            </a:r>
            <a:br>
              <a:rPr lang="es-MX" dirty="0"/>
            </a:br>
            <a:r>
              <a:rPr lang="es-MX" dirty="0"/>
              <a:t>Finalmente, se guardaron los cambios dando clic en “</a:t>
            </a:r>
            <a:r>
              <a:rPr lang="es-MX" dirty="0" err="1"/>
              <a:t>Save</a:t>
            </a:r>
            <a:r>
              <a:rPr lang="es-MX" dirty="0"/>
              <a:t>”, quedando así creada correctamente nuestra primera tabla.</a:t>
            </a:r>
          </a:p>
        </p:txBody>
      </p:sp>
    </p:spTree>
    <p:extLst>
      <p:ext uri="{BB962C8B-B14F-4D97-AF65-F5344CB8AC3E}">
        <p14:creationId xmlns:p14="http://schemas.microsoft.com/office/powerpoint/2010/main" val="2706380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8FC46E-1F47-4424-91BD-5E8E5B63FBA9}"/>
              </a:ext>
            </a:extLst>
          </p:cNvPr>
          <p:cNvSpPr>
            <a:spLocks noGrp="1"/>
          </p:cNvSpPr>
          <p:nvPr>
            <p:ph type="title"/>
          </p:nvPr>
        </p:nvSpPr>
        <p:spPr>
          <a:xfrm>
            <a:off x="3970741" y="225268"/>
            <a:ext cx="3998884" cy="555859"/>
          </a:xfrm>
        </p:spPr>
        <p:txBody>
          <a:bodyPr>
            <a:normAutofit/>
          </a:bodyPr>
          <a:lstStyle/>
          <a:p>
            <a:r>
              <a:rPr lang="es-MX" sz="2000" b="1" dirty="0">
                <a:latin typeface="Arial" panose="020B0604020202020204" pitchFamily="34" charset="0"/>
                <a:cs typeface="Arial" panose="020B0604020202020204" pitchFamily="34" charset="0"/>
              </a:rPr>
              <a:t>Inserción de datos</a:t>
            </a:r>
          </a:p>
        </p:txBody>
      </p:sp>
      <p:pic>
        <p:nvPicPr>
          <p:cNvPr id="4" name="Marcador de contenido 3">
            <a:extLst>
              <a:ext uri="{FF2B5EF4-FFF2-40B4-BE49-F238E27FC236}">
                <a16:creationId xmlns:a16="http://schemas.microsoft.com/office/drawing/2014/main" id="{E79ECF70-683D-4EAB-A1CB-FD90B52BFB17}"/>
              </a:ext>
            </a:extLst>
          </p:cNvPr>
          <p:cNvPicPr>
            <a:picLocks noGrp="1" noChangeAspect="1"/>
          </p:cNvPicPr>
          <p:nvPr>
            <p:ph sz="quarter" idx="13"/>
          </p:nvPr>
        </p:nvPicPr>
        <p:blipFill rotWithShape="1">
          <a:blip r:embed="rId2"/>
          <a:srcRect l="22117" t="11772" r="3210" b="8640"/>
          <a:stretch/>
        </p:blipFill>
        <p:spPr>
          <a:xfrm>
            <a:off x="304799" y="3272118"/>
            <a:ext cx="5567083" cy="3082684"/>
          </a:xfrm>
          <a:prstGeom prst="rect">
            <a:avLst/>
          </a:prstGeom>
        </p:spPr>
      </p:pic>
      <p:sp>
        <p:nvSpPr>
          <p:cNvPr id="5" name="CuadroTexto 4">
            <a:extLst>
              <a:ext uri="{FF2B5EF4-FFF2-40B4-BE49-F238E27FC236}">
                <a16:creationId xmlns:a16="http://schemas.microsoft.com/office/drawing/2014/main" id="{C6DED94C-0D8C-4509-B74E-029D616A6AC4}"/>
              </a:ext>
            </a:extLst>
          </p:cNvPr>
          <p:cNvSpPr txBox="1"/>
          <p:nvPr/>
        </p:nvSpPr>
        <p:spPr>
          <a:xfrm>
            <a:off x="6409765" y="3733800"/>
            <a:ext cx="4159623" cy="1754326"/>
          </a:xfrm>
          <a:prstGeom prst="rect">
            <a:avLst/>
          </a:prstGeom>
          <a:noFill/>
        </p:spPr>
        <p:txBody>
          <a:bodyPr wrap="square" rtlCol="0">
            <a:spAutoFit/>
          </a:bodyPr>
          <a:lstStyle/>
          <a:p>
            <a:r>
              <a:rPr lang="es-MX" dirty="0"/>
              <a:t>Se ingresaron registros a la tabla utilizando la opción:</a:t>
            </a:r>
            <a:br>
              <a:rPr lang="es-MX" dirty="0"/>
            </a:br>
            <a:r>
              <a:rPr lang="es-MX" dirty="0"/>
              <a:t>View/</a:t>
            </a:r>
            <a:r>
              <a:rPr lang="es-MX" dirty="0" err="1"/>
              <a:t>Edit</a:t>
            </a:r>
            <a:r>
              <a:rPr lang="es-MX" dirty="0"/>
              <a:t> Data → </a:t>
            </a:r>
            <a:r>
              <a:rPr lang="es-MX" dirty="0" err="1"/>
              <a:t>All</a:t>
            </a:r>
            <a:r>
              <a:rPr lang="es-MX" dirty="0"/>
              <a:t> </a:t>
            </a:r>
            <a:r>
              <a:rPr lang="es-MX" dirty="0" err="1"/>
              <a:t>Rows</a:t>
            </a:r>
            <a:r>
              <a:rPr lang="es-MX" dirty="0"/>
              <a:t>.</a:t>
            </a:r>
            <a:br>
              <a:rPr lang="es-MX" dirty="0"/>
            </a:br>
            <a:r>
              <a:rPr lang="es-MX" dirty="0"/>
              <a:t>Esto permitió capturar información directamente en la tabla, simulando un entorno real de almacenamiento de datos.</a:t>
            </a:r>
          </a:p>
        </p:txBody>
      </p:sp>
    </p:spTree>
    <p:extLst>
      <p:ext uri="{BB962C8B-B14F-4D97-AF65-F5344CB8AC3E}">
        <p14:creationId xmlns:p14="http://schemas.microsoft.com/office/powerpoint/2010/main" val="915370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242C7F-75A3-4E7B-8BF0-2D121CE371A8}"/>
              </a:ext>
            </a:extLst>
          </p:cNvPr>
          <p:cNvSpPr>
            <a:spLocks noGrp="1"/>
          </p:cNvSpPr>
          <p:nvPr>
            <p:ph type="title"/>
          </p:nvPr>
        </p:nvSpPr>
        <p:spPr>
          <a:xfrm>
            <a:off x="2528047" y="188212"/>
            <a:ext cx="6302814" cy="448284"/>
          </a:xfrm>
        </p:spPr>
        <p:txBody>
          <a:bodyPr>
            <a:normAutofit/>
          </a:bodyPr>
          <a:lstStyle/>
          <a:p>
            <a:r>
              <a:rPr lang="es-MX" sz="2000" b="1" dirty="0">
                <a:latin typeface="Arial" panose="020B0604020202020204" pitchFamily="34" charset="0"/>
                <a:cs typeface="Arial" panose="020B0604020202020204" pitchFamily="34" charset="0"/>
              </a:rPr>
              <a:t>conclusión</a:t>
            </a:r>
          </a:p>
        </p:txBody>
      </p:sp>
      <p:sp>
        <p:nvSpPr>
          <p:cNvPr id="3" name="Marcador de contenido 2">
            <a:extLst>
              <a:ext uri="{FF2B5EF4-FFF2-40B4-BE49-F238E27FC236}">
                <a16:creationId xmlns:a16="http://schemas.microsoft.com/office/drawing/2014/main" id="{1A69F9D4-587C-49EF-B403-8975A58719D0}"/>
              </a:ext>
            </a:extLst>
          </p:cNvPr>
          <p:cNvSpPr>
            <a:spLocks noGrp="1"/>
          </p:cNvSpPr>
          <p:nvPr>
            <p:ph sz="quarter" idx="13"/>
          </p:nvPr>
        </p:nvSpPr>
        <p:spPr>
          <a:xfrm>
            <a:off x="2814291" y="1640951"/>
            <a:ext cx="7557873" cy="3424107"/>
          </a:xfrm>
        </p:spPr>
        <p:txBody>
          <a:bodyPr>
            <a:normAutofit/>
          </a:bodyPr>
          <a:lstStyle/>
          <a:p>
            <a:pPr marL="0" indent="0" algn="just">
              <a:buNone/>
            </a:pPr>
            <a:r>
              <a:rPr lang="es-MX" sz="1800" dirty="0">
                <a:latin typeface="Arial" panose="020B0604020202020204" pitchFamily="34" charset="0"/>
                <a:cs typeface="Arial" panose="020B0604020202020204" pitchFamily="34" charset="0"/>
              </a:rPr>
              <a:t>E</a:t>
            </a:r>
            <a:r>
              <a:rPr lang="es-MX" sz="1800" cap="none" dirty="0">
                <a:latin typeface="Arial" panose="020B0604020202020204" pitchFamily="34" charset="0"/>
                <a:cs typeface="Arial" panose="020B0604020202020204" pitchFamily="34" charset="0"/>
              </a:rPr>
              <a:t>n esta práctica se logró comprender el uso básico de </a:t>
            </a:r>
            <a:r>
              <a:rPr lang="es-MX" sz="1800" cap="none" dirty="0" err="1">
                <a:latin typeface="Arial" panose="020B0604020202020204" pitchFamily="34" charset="0"/>
                <a:cs typeface="Arial" panose="020B0604020202020204" pitchFamily="34" charset="0"/>
              </a:rPr>
              <a:t>pgadmin</a:t>
            </a:r>
            <a:r>
              <a:rPr lang="es-MX" sz="1800" cap="none" dirty="0">
                <a:latin typeface="Arial" panose="020B0604020202020204" pitchFamily="34" charset="0"/>
                <a:cs typeface="Arial" panose="020B0604020202020204" pitchFamily="34" charset="0"/>
              </a:rPr>
              <a:t> junto con </a:t>
            </a:r>
            <a:r>
              <a:rPr lang="es-MX" sz="1800" cap="none" dirty="0" err="1">
                <a:latin typeface="Arial" panose="020B0604020202020204" pitchFamily="34" charset="0"/>
                <a:cs typeface="Arial" panose="020B0604020202020204" pitchFamily="34" charset="0"/>
              </a:rPr>
              <a:t>postgresql</a:t>
            </a:r>
            <a:r>
              <a:rPr lang="es-MX" sz="1800" cap="none" dirty="0">
                <a:latin typeface="Arial" panose="020B0604020202020204" pitchFamily="34" charset="0"/>
                <a:cs typeface="Arial" panose="020B0604020202020204" pitchFamily="34" charset="0"/>
              </a:rPr>
              <a:t>, desde su instalación hasta la creación de una base de datos y una tabla funcional. a través de cada uno de los pasos realizados, se adquirió una mejor comprensión sobre cómo se organizan y almacenan los datos dentro de un sistema gestor de bases de datos.</a:t>
            </a:r>
          </a:p>
          <a:p>
            <a:pPr marL="0" indent="0" algn="just">
              <a:buNone/>
            </a:pPr>
            <a:r>
              <a:rPr lang="es-MX" sz="1800" cap="none" dirty="0">
                <a:latin typeface="Arial" panose="020B0604020202020204" pitchFamily="34" charset="0"/>
                <a:cs typeface="Arial" panose="020B0604020202020204" pitchFamily="34" charset="0"/>
              </a:rPr>
              <a:t>asimismo, esta actividad permitió desarrollar habilidades prácticas importantes, como la configuración de un servidor, la definición de estructuras de datos y la inserción de registros</a:t>
            </a:r>
          </a:p>
          <a:p>
            <a:endParaRPr lang="es-MX" dirty="0"/>
          </a:p>
        </p:txBody>
      </p:sp>
    </p:spTree>
    <p:extLst>
      <p:ext uri="{BB962C8B-B14F-4D97-AF65-F5344CB8AC3E}">
        <p14:creationId xmlns:p14="http://schemas.microsoft.com/office/powerpoint/2010/main" val="2880045840"/>
      </p:ext>
    </p:extLst>
  </p:cSld>
  <p:clrMapOvr>
    <a:masterClrMapping/>
  </p:clrMapOvr>
</p:sld>
</file>

<file path=ppt/theme/theme1.xml><?xml version="1.0" encoding="utf-8"?>
<a:theme xmlns:a="http://schemas.openxmlformats.org/drawingml/2006/main" name="Gota">
  <a:themeElements>
    <a:clrScheme name="Gota">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TM04033925[[fn=Gota]]</Template>
  <TotalTime>65</TotalTime>
  <Words>863</Words>
  <Application>Microsoft Office PowerPoint</Application>
  <PresentationFormat>Panorámica</PresentationFormat>
  <Paragraphs>42</Paragraphs>
  <Slides>16</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16</vt:i4>
      </vt:variant>
    </vt:vector>
  </HeadingPairs>
  <TitlesOfParts>
    <vt:vector size="19" baseType="lpstr">
      <vt:lpstr>Arial</vt:lpstr>
      <vt:lpstr>Tw Cen MT</vt:lpstr>
      <vt:lpstr>Gota</vt:lpstr>
      <vt:lpstr>Presentación de PowerPoint</vt:lpstr>
      <vt:lpstr>INTRODUCCION </vt:lpstr>
      <vt:lpstr>JUSTIFICACION</vt:lpstr>
      <vt:lpstr>Se inició la práctica localizando el archivo de instalación de pgadmin previamente descargado desde su página oficial. una vez ubicado, se ejecutó dando doble clic sobre él. este paso es fundamental, ya que permite iniciar el asistente de instalación, el cual guiará al usuario durante todo el proceso de configuración del software.</vt:lpstr>
      <vt:lpstr>El sistema muestra un acuerdo de licencia que establece las condiciones de uso del software. se procedió a leer y aceptar dichos términos para poder continuar con la instalación, ya que este paso es obligatorio para el uso legal del programa. posteriormente, se seleccionó la opción “next”</vt:lpstr>
      <vt:lpstr>Configuración inicial de instalación</vt:lpstr>
      <vt:lpstr>Proceso de instalación</vt:lpstr>
      <vt:lpstr>Finalización de instalación</vt:lpstr>
      <vt:lpstr>Inicio del programa pgAdmin</vt:lpstr>
      <vt:lpstr>Configuración de conexión</vt:lpstr>
      <vt:lpstr>Creación de la base de datos</vt:lpstr>
      <vt:lpstr>Se asignó el nombre “prueba1”, el cual servirá como contenedor de la información que se manejara</vt:lpstr>
      <vt:lpstr>Creación de la tabla</vt:lpstr>
      <vt:lpstr>Presentación de PowerPoint</vt:lpstr>
      <vt:lpstr>Inserción de datos</vt:lpstr>
      <vt:lpstr>conclusión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8</cp:revision>
  <dcterms:created xsi:type="dcterms:W3CDTF">2026-05-05T12:16:48Z</dcterms:created>
  <dcterms:modified xsi:type="dcterms:W3CDTF">2026-05-05T13:21:58Z</dcterms:modified>
</cp:coreProperties>
</file>